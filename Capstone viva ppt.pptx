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0" d="100"/>
          <a:sy n="60" d="100"/>
        </p:scale>
        <p:origin x="820" y="2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6086475" y="3405788"/>
            <a:ext cx="6115050" cy="346954"/>
          </a:xfrm>
          <a:prstGeom prst="rect">
            <a:avLst/>
          </a:prstGeom>
        </p:spPr>
        <p:txBody>
          <a:bodyPr lIns="0" tIns="0" rIns="0" bIns="0" rtlCol="0" anchor="t">
            <a:spAutoFit/>
          </a:bodyPr>
          <a:lstStyle/>
          <a:p>
            <a:pPr algn="ctr">
              <a:lnSpc>
                <a:spcPts val="3024"/>
              </a:lnSpc>
            </a:pPr>
            <a:r>
              <a:rPr lang="en-US" sz="2000" b="1">
                <a:solidFill>
                  <a:srgbClr val="C45D3A"/>
                </a:solidFill>
                <a:latin typeface="Arial" panose="020B0604020202020204" pitchFamily="34" charset="0"/>
                <a:ea typeface="Source Sans 3 Bold"/>
                <a:cs typeface="Arial" panose="020B0604020202020204" pitchFamily="34" charset="0"/>
                <a:sym typeface="Source Sans 3 Bold"/>
              </a:rPr>
              <a:t>PROJECT VIVA PRESENTATION</a:t>
            </a:r>
          </a:p>
        </p:txBody>
      </p:sp>
      <p:sp>
        <p:nvSpPr>
          <p:cNvPr id="5" name="TextBox 5"/>
          <p:cNvSpPr txBox="1"/>
          <p:nvPr/>
        </p:nvSpPr>
        <p:spPr>
          <a:xfrm>
            <a:off x="0" y="4193723"/>
            <a:ext cx="18288000" cy="1923604"/>
          </a:xfrm>
          <a:prstGeom prst="rect">
            <a:avLst/>
          </a:prstGeom>
        </p:spPr>
        <p:txBody>
          <a:bodyPr lIns="0" tIns="0" rIns="0" bIns="0" rtlCol="0" anchor="t">
            <a:spAutoFit/>
          </a:bodyPr>
          <a:lstStyle/>
          <a:p>
            <a:pPr algn="ctr">
              <a:lnSpc>
                <a:spcPts val="7483"/>
              </a:lnSpc>
            </a:pPr>
            <a:r>
              <a:rPr lang="en-US" sz="6700" dirty="0">
                <a:solidFill>
                  <a:srgbClr val="000000"/>
                </a:solidFill>
                <a:latin typeface="Arial" panose="020B0604020202020204" pitchFamily="34" charset="0"/>
                <a:ea typeface="DM Serif Display"/>
                <a:cs typeface="Arial" panose="020B0604020202020204" pitchFamily="34" charset="0"/>
                <a:sym typeface="DM Serif Display"/>
              </a:rPr>
              <a:t>Daily sales analysis of a cafe to increase efficiency and Net Profit</a:t>
            </a:r>
          </a:p>
        </p:txBody>
      </p:sp>
      <p:grpSp>
        <p:nvGrpSpPr>
          <p:cNvPr id="6" name="Group 6"/>
          <p:cNvGrpSpPr/>
          <p:nvPr/>
        </p:nvGrpSpPr>
        <p:grpSpPr>
          <a:xfrm>
            <a:off x="8410575" y="6720630"/>
            <a:ext cx="1466850" cy="28575"/>
            <a:chOff x="0" y="0"/>
            <a:chExt cx="1955800" cy="38100"/>
          </a:xfrm>
        </p:grpSpPr>
        <p:sp>
          <p:nvSpPr>
            <p:cNvPr id="7" name="Freeform 7"/>
            <p:cNvSpPr/>
            <p:nvPr/>
          </p:nvSpPr>
          <p:spPr>
            <a:xfrm>
              <a:off x="0" y="0"/>
              <a:ext cx="1955800" cy="38100"/>
            </a:xfrm>
            <a:custGeom>
              <a:avLst/>
              <a:gdLst/>
              <a:ahLst/>
              <a:cxnLst/>
              <a:rect l="l" t="t" r="r" b="b"/>
              <a:pathLst>
                <a:path w="1955800" h="38100">
                  <a:moveTo>
                    <a:pt x="0" y="0"/>
                  </a:moveTo>
                  <a:lnTo>
                    <a:pt x="1955800" y="0"/>
                  </a:lnTo>
                  <a:lnTo>
                    <a:pt x="1955800" y="38100"/>
                  </a:lnTo>
                  <a:lnTo>
                    <a:pt x="0" y="38100"/>
                  </a:lnTo>
                  <a:close/>
                </a:path>
              </a:pathLst>
            </a:custGeom>
            <a:solidFill>
              <a:srgbClr val="C45D3A"/>
            </a:solidFill>
          </p:spPr>
        </p:sp>
      </p:grpSp>
      <p:sp>
        <p:nvSpPr>
          <p:cNvPr id="8" name="TextBox 8"/>
          <p:cNvSpPr txBox="1"/>
          <p:nvPr/>
        </p:nvSpPr>
        <p:spPr>
          <a:xfrm>
            <a:off x="1462383" y="8343900"/>
            <a:ext cx="1552575" cy="321883"/>
          </a:xfrm>
          <a:prstGeom prst="rect">
            <a:avLst/>
          </a:prstGeom>
        </p:spPr>
        <p:txBody>
          <a:bodyPr lIns="0" tIns="0" rIns="0" bIns="0" rtlCol="0" anchor="t">
            <a:spAutoFit/>
          </a:bodyPr>
          <a:lstStyle/>
          <a:p>
            <a:pPr algn="l">
              <a:lnSpc>
                <a:spcPts val="2808"/>
              </a:lnSpc>
            </a:pPr>
            <a:r>
              <a:rPr lang="en-US" sz="1800">
                <a:solidFill>
                  <a:srgbClr val="000000"/>
                </a:solidFill>
                <a:latin typeface="Arial" panose="020B0604020202020204" pitchFamily="34" charset="0"/>
                <a:ea typeface="Source Sans 3"/>
                <a:cs typeface="Arial" panose="020B0604020202020204" pitchFamily="34" charset="0"/>
                <a:sym typeface="Source Sans 3"/>
              </a:rPr>
              <a:t>Student Name</a:t>
            </a:r>
          </a:p>
        </p:txBody>
      </p:sp>
      <p:sp>
        <p:nvSpPr>
          <p:cNvPr id="9" name="TextBox 9"/>
          <p:cNvSpPr txBox="1"/>
          <p:nvPr/>
        </p:nvSpPr>
        <p:spPr>
          <a:xfrm>
            <a:off x="1462383" y="8740521"/>
            <a:ext cx="1966617" cy="400815"/>
          </a:xfrm>
          <a:prstGeom prst="rect">
            <a:avLst/>
          </a:prstGeom>
        </p:spPr>
        <p:txBody>
          <a:bodyPr wrap="square" lIns="0" tIns="0" rIns="0" bIns="0" rtlCol="0" anchor="t">
            <a:spAutoFit/>
          </a:bodyPr>
          <a:lstStyle/>
          <a:p>
            <a:pPr algn="l">
              <a:lnSpc>
                <a:spcPts val="3456"/>
              </a:lnSpc>
            </a:pPr>
            <a:r>
              <a:rPr lang="en-US" sz="2200" b="1" dirty="0">
                <a:solidFill>
                  <a:srgbClr val="000000"/>
                </a:solidFill>
                <a:latin typeface="Arial" panose="020B0604020202020204" pitchFamily="34" charset="0"/>
                <a:ea typeface="Source Sans 3 Bold"/>
                <a:cs typeface="Arial" panose="020B0604020202020204" pitchFamily="34" charset="0"/>
                <a:sym typeface="Source Sans 3 Bold"/>
              </a:rPr>
              <a:t>Vedaant Arora</a:t>
            </a:r>
          </a:p>
        </p:txBody>
      </p:sp>
      <p:sp>
        <p:nvSpPr>
          <p:cNvPr id="10" name="TextBox 10"/>
          <p:cNvSpPr txBox="1"/>
          <p:nvPr/>
        </p:nvSpPr>
        <p:spPr>
          <a:xfrm>
            <a:off x="5942486" y="8343900"/>
            <a:ext cx="1552575" cy="321883"/>
          </a:xfrm>
          <a:prstGeom prst="rect">
            <a:avLst/>
          </a:prstGeom>
        </p:spPr>
        <p:txBody>
          <a:bodyPr wrap="square" lIns="0" tIns="0" rIns="0" bIns="0" rtlCol="0" anchor="t">
            <a:spAutoFit/>
          </a:bodyPr>
          <a:lstStyle/>
          <a:p>
            <a:pPr algn="ctr">
              <a:lnSpc>
                <a:spcPts val="2808"/>
              </a:lnSpc>
            </a:pPr>
            <a:r>
              <a:rPr lang="en-US" sz="1800" dirty="0">
                <a:solidFill>
                  <a:srgbClr val="000000"/>
                </a:solidFill>
                <a:latin typeface="Arial" panose="020B0604020202020204" pitchFamily="34" charset="0"/>
                <a:ea typeface="Source Sans 3"/>
                <a:cs typeface="Arial" panose="020B0604020202020204" pitchFamily="34" charset="0"/>
                <a:sym typeface="Source Sans 3"/>
              </a:rPr>
              <a:t>Student ID</a:t>
            </a:r>
          </a:p>
        </p:txBody>
      </p:sp>
      <p:sp>
        <p:nvSpPr>
          <p:cNvPr id="11" name="TextBox 11"/>
          <p:cNvSpPr txBox="1"/>
          <p:nvPr/>
        </p:nvSpPr>
        <p:spPr>
          <a:xfrm>
            <a:off x="5650386" y="8740521"/>
            <a:ext cx="2095499" cy="400815"/>
          </a:xfrm>
          <a:prstGeom prst="rect">
            <a:avLst/>
          </a:prstGeom>
        </p:spPr>
        <p:txBody>
          <a:bodyPr wrap="square" lIns="0" tIns="0" rIns="0" bIns="0" rtlCol="0" anchor="t">
            <a:spAutoFit/>
          </a:bodyPr>
          <a:lstStyle/>
          <a:p>
            <a:pPr algn="ctr">
              <a:lnSpc>
                <a:spcPts val="3456"/>
              </a:lnSpc>
            </a:pPr>
            <a:r>
              <a:rPr lang="en-US" sz="2200" b="1">
                <a:solidFill>
                  <a:srgbClr val="000000"/>
                </a:solidFill>
                <a:latin typeface="Arial" panose="020B0604020202020204" pitchFamily="34" charset="0"/>
                <a:ea typeface="Source Sans 3 Bold"/>
                <a:cs typeface="Arial" panose="020B0604020202020204" pitchFamily="34" charset="0"/>
                <a:sym typeface="Source Sans 3 Bold"/>
              </a:rPr>
              <a:t>24DS3000056</a:t>
            </a:r>
          </a:p>
        </p:txBody>
      </p:sp>
      <p:sp>
        <p:nvSpPr>
          <p:cNvPr id="12" name="TextBox 12"/>
          <p:cNvSpPr txBox="1"/>
          <p:nvPr/>
        </p:nvSpPr>
        <p:spPr>
          <a:xfrm>
            <a:off x="9944700" y="8343900"/>
            <a:ext cx="2095500" cy="321883"/>
          </a:xfrm>
          <a:prstGeom prst="rect">
            <a:avLst/>
          </a:prstGeom>
        </p:spPr>
        <p:txBody>
          <a:bodyPr lIns="0" tIns="0" rIns="0" bIns="0" rtlCol="0" anchor="t">
            <a:spAutoFit/>
          </a:bodyPr>
          <a:lstStyle/>
          <a:p>
            <a:pPr algn="ctr">
              <a:lnSpc>
                <a:spcPts val="2808"/>
              </a:lnSpc>
            </a:pPr>
            <a:r>
              <a:rPr lang="en-US" sz="1800" dirty="0">
                <a:solidFill>
                  <a:srgbClr val="000000"/>
                </a:solidFill>
                <a:latin typeface="Arial" panose="020B0604020202020204" pitchFamily="34" charset="0"/>
                <a:ea typeface="Source Sans 3"/>
                <a:cs typeface="Arial" panose="020B0604020202020204" pitchFamily="34" charset="0"/>
                <a:sym typeface="Source Sans 3"/>
              </a:rPr>
              <a:t>Business</a:t>
            </a:r>
          </a:p>
        </p:txBody>
      </p:sp>
      <p:sp>
        <p:nvSpPr>
          <p:cNvPr id="13" name="TextBox 13"/>
          <p:cNvSpPr txBox="1"/>
          <p:nvPr/>
        </p:nvSpPr>
        <p:spPr>
          <a:xfrm>
            <a:off x="9944700" y="8740521"/>
            <a:ext cx="2095500" cy="849656"/>
          </a:xfrm>
          <a:prstGeom prst="rect">
            <a:avLst/>
          </a:prstGeom>
        </p:spPr>
        <p:txBody>
          <a:bodyPr lIns="0" tIns="0" rIns="0" bIns="0" rtlCol="0" anchor="t">
            <a:spAutoFit/>
          </a:bodyPr>
          <a:lstStyle/>
          <a:p>
            <a:pPr algn="ctr">
              <a:lnSpc>
                <a:spcPts val="3456"/>
              </a:lnSpc>
            </a:pPr>
            <a:r>
              <a:rPr lang="en-US" sz="2200" b="1" dirty="0">
                <a:solidFill>
                  <a:srgbClr val="000000"/>
                </a:solidFill>
                <a:latin typeface="Arial" panose="020B0604020202020204" pitchFamily="34" charset="0"/>
                <a:ea typeface="Source Sans 3 Bold"/>
                <a:cs typeface="Arial" panose="020B0604020202020204" pitchFamily="34" charset="0"/>
                <a:sym typeface="Source Sans 3 Bold"/>
              </a:rPr>
              <a:t>COFFEE BEANS</a:t>
            </a:r>
          </a:p>
        </p:txBody>
      </p:sp>
      <p:sp>
        <p:nvSpPr>
          <p:cNvPr id="14" name="TextBox 14"/>
          <p:cNvSpPr txBox="1"/>
          <p:nvPr/>
        </p:nvSpPr>
        <p:spPr>
          <a:xfrm>
            <a:off x="14966309" y="8343900"/>
            <a:ext cx="1857375" cy="321883"/>
          </a:xfrm>
          <a:prstGeom prst="rect">
            <a:avLst/>
          </a:prstGeom>
        </p:spPr>
        <p:txBody>
          <a:bodyPr lIns="0" tIns="0" rIns="0" bIns="0" rtlCol="0" anchor="t">
            <a:spAutoFit/>
          </a:bodyPr>
          <a:lstStyle/>
          <a:p>
            <a:pPr algn="r">
              <a:lnSpc>
                <a:spcPts val="2808"/>
              </a:lnSpc>
            </a:pPr>
            <a:r>
              <a:rPr lang="en-US" sz="1800">
                <a:solidFill>
                  <a:srgbClr val="000000"/>
                </a:solidFill>
                <a:latin typeface="Arial" panose="020B0604020202020204" pitchFamily="34" charset="0"/>
                <a:ea typeface="Source Sans 3"/>
                <a:cs typeface="Arial" panose="020B0604020202020204" pitchFamily="34" charset="0"/>
                <a:sym typeface="Source Sans 3"/>
              </a:rPr>
              <a:t>Course</a:t>
            </a:r>
          </a:p>
        </p:txBody>
      </p:sp>
      <p:sp>
        <p:nvSpPr>
          <p:cNvPr id="15" name="TextBox 15"/>
          <p:cNvSpPr txBox="1"/>
          <p:nvPr/>
        </p:nvSpPr>
        <p:spPr>
          <a:xfrm>
            <a:off x="14261585" y="8740521"/>
            <a:ext cx="2562099" cy="849656"/>
          </a:xfrm>
          <a:prstGeom prst="rect">
            <a:avLst/>
          </a:prstGeom>
        </p:spPr>
        <p:txBody>
          <a:bodyPr wrap="square" lIns="0" tIns="0" rIns="0" bIns="0" rtlCol="0" anchor="t">
            <a:spAutoFit/>
          </a:bodyPr>
          <a:lstStyle/>
          <a:p>
            <a:pPr algn="r">
              <a:lnSpc>
                <a:spcPts val="3456"/>
              </a:lnSpc>
            </a:pPr>
            <a:r>
              <a:rPr lang="en-US" sz="2200" b="1" dirty="0">
                <a:solidFill>
                  <a:srgbClr val="000000"/>
                </a:solidFill>
                <a:latin typeface="Arial" panose="020B0604020202020204" pitchFamily="34" charset="0"/>
                <a:ea typeface="Source Sans 3 Bold"/>
                <a:cs typeface="Arial" panose="020B0604020202020204" pitchFamily="34" charset="0"/>
                <a:sym typeface="Source Sans 3 Bold"/>
              </a:rPr>
              <a:t>BUSINESS 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0058400" y="0"/>
            <a:ext cx="8229600" cy="10287000"/>
            <a:chOff x="0" y="0"/>
            <a:chExt cx="10972800" cy="13716000"/>
          </a:xfrm>
        </p:grpSpPr>
        <p:sp>
          <p:nvSpPr>
            <p:cNvPr id="5" name="Freeform 5"/>
            <p:cNvSpPr/>
            <p:nvPr/>
          </p:nvSpPr>
          <p:spPr>
            <a:xfrm>
              <a:off x="0" y="0"/>
              <a:ext cx="10972800" cy="13716000"/>
            </a:xfrm>
            <a:custGeom>
              <a:avLst/>
              <a:gdLst/>
              <a:ahLst/>
              <a:cxnLst/>
              <a:rect l="l" t="t" r="r" b="b"/>
              <a:pathLst>
                <a:path w="10972800" h="13716000">
                  <a:moveTo>
                    <a:pt x="0" y="0"/>
                  </a:moveTo>
                  <a:lnTo>
                    <a:pt x="10972800" y="0"/>
                  </a:lnTo>
                  <a:lnTo>
                    <a:pt x="10972800" y="13716000"/>
                  </a:lnTo>
                  <a:lnTo>
                    <a:pt x="0" y="13716000"/>
                  </a:lnTo>
                  <a:lnTo>
                    <a:pt x="0" y="0"/>
                  </a:lnTo>
                  <a:close/>
                </a:path>
              </a:pathLst>
            </a:custGeom>
            <a:blipFill>
              <a:blip r:embed="rId2"/>
              <a:stretch>
                <a:fillRect t="-21111" b="-21111"/>
              </a:stretch>
            </a:blipFill>
          </p:spPr>
        </p:sp>
      </p:grpSp>
      <p:sp>
        <p:nvSpPr>
          <p:cNvPr id="6" name="TextBox 6"/>
          <p:cNvSpPr txBox="1"/>
          <p:nvPr/>
        </p:nvSpPr>
        <p:spPr>
          <a:xfrm>
            <a:off x="914400" y="495300"/>
            <a:ext cx="8229600" cy="296748"/>
          </a:xfrm>
          <a:prstGeom prst="rect">
            <a:avLst/>
          </a:prstGeom>
        </p:spPr>
        <p:txBody>
          <a:bodyPr lIns="0" tIns="0" rIns="0" bIns="0" rtlCol="0" anchor="t">
            <a:spAutoFit/>
          </a:bodyPr>
          <a:lstStyle/>
          <a:p>
            <a:pPr algn="l">
              <a:lnSpc>
                <a:spcPts val="2592"/>
              </a:lnSpc>
            </a:pPr>
            <a:r>
              <a:rPr lang="en-US" sz="1600" b="1">
                <a:solidFill>
                  <a:srgbClr val="C45D3A"/>
                </a:solidFill>
                <a:latin typeface="Arial" panose="020B0604020202020204" pitchFamily="34" charset="0"/>
                <a:ea typeface="Source Sans 3 Bold"/>
                <a:cs typeface="Arial" panose="020B0604020202020204" pitchFamily="34" charset="0"/>
                <a:sym typeface="Source Sans 3 Bold"/>
              </a:rPr>
              <a:t>PROJECT OVERVIEW</a:t>
            </a:r>
          </a:p>
        </p:txBody>
      </p:sp>
      <p:sp>
        <p:nvSpPr>
          <p:cNvPr id="7" name="TextBox 7"/>
          <p:cNvSpPr txBox="1"/>
          <p:nvPr/>
        </p:nvSpPr>
        <p:spPr>
          <a:xfrm>
            <a:off x="914400" y="1107957"/>
            <a:ext cx="8229600" cy="807913"/>
          </a:xfrm>
          <a:prstGeom prst="rect">
            <a:avLst/>
          </a:prstGeom>
        </p:spPr>
        <p:txBody>
          <a:bodyPr lIns="0" tIns="0" rIns="0" bIns="0" rtlCol="0" anchor="t">
            <a:spAutoFit/>
          </a:bodyPr>
          <a:lstStyle/>
          <a:p>
            <a:pPr algn="l">
              <a:lnSpc>
                <a:spcPts val="6292"/>
              </a:lnSpc>
            </a:pPr>
            <a:r>
              <a:rPr lang="en-US" sz="5400">
                <a:solidFill>
                  <a:srgbClr val="1E293B"/>
                </a:solidFill>
                <a:latin typeface="Arial" panose="020B0604020202020204" pitchFamily="34" charset="0"/>
                <a:ea typeface="DM Serif Display"/>
                <a:cs typeface="Arial" panose="020B0604020202020204" pitchFamily="34" charset="0"/>
                <a:sym typeface="DM Serif Display"/>
              </a:rPr>
              <a:t>About the Business</a:t>
            </a:r>
          </a:p>
        </p:txBody>
      </p:sp>
      <p:sp>
        <p:nvSpPr>
          <p:cNvPr id="8" name="TextBox 8"/>
          <p:cNvSpPr txBox="1"/>
          <p:nvPr/>
        </p:nvSpPr>
        <p:spPr>
          <a:xfrm>
            <a:off x="914400" y="2234660"/>
            <a:ext cx="8229600" cy="346954"/>
          </a:xfrm>
          <a:prstGeom prst="rect">
            <a:avLst/>
          </a:prstGeom>
        </p:spPr>
        <p:txBody>
          <a:bodyPr lIns="0" tIns="0" rIns="0" bIns="0" rtlCol="0" anchor="t">
            <a:spAutoFit/>
          </a:bodyPr>
          <a:lstStyle/>
          <a:p>
            <a:pPr algn="l">
              <a:lnSpc>
                <a:spcPts val="3024"/>
              </a:lnSpc>
            </a:pPr>
            <a:r>
              <a:rPr lang="en-US" sz="2000" b="1">
                <a:solidFill>
                  <a:srgbClr val="1E293B"/>
                </a:solidFill>
                <a:latin typeface="Arial" panose="020B0604020202020204" pitchFamily="34" charset="0"/>
                <a:ea typeface="Source Sans 3 Bold"/>
                <a:cs typeface="Arial" panose="020B0604020202020204" pitchFamily="34" charset="0"/>
                <a:sym typeface="Source Sans 3 Bold"/>
              </a:rPr>
              <a:t>Business Type</a:t>
            </a:r>
          </a:p>
        </p:txBody>
      </p:sp>
      <p:sp>
        <p:nvSpPr>
          <p:cNvPr id="9" name="TextBox 9"/>
          <p:cNvSpPr txBox="1"/>
          <p:nvPr/>
        </p:nvSpPr>
        <p:spPr>
          <a:xfrm>
            <a:off x="914400" y="2680992"/>
            <a:ext cx="8229600" cy="1364836"/>
          </a:xfrm>
          <a:prstGeom prst="rect">
            <a:avLst/>
          </a:prstGeom>
        </p:spPr>
        <p:txBody>
          <a:bodyPr lIns="0" tIns="0" rIns="0" bIns="0" rtlCol="0" anchor="t">
            <a:spAutoFit/>
          </a:bodyPr>
          <a:lstStyle/>
          <a:p>
            <a:pPr algn="l">
              <a:lnSpc>
                <a:spcPts val="3744"/>
              </a:lnSpc>
            </a:pPr>
            <a:r>
              <a:rPr lang="en-US" sz="2200">
                <a:solidFill>
                  <a:srgbClr val="64748B"/>
                </a:solidFill>
                <a:latin typeface="Arial" panose="020B0604020202020204" pitchFamily="34" charset="0"/>
                <a:ea typeface="Source Sans 3"/>
                <a:cs typeface="Arial" panose="020B0604020202020204" pitchFamily="34" charset="0"/>
                <a:sym typeface="Source Sans 3"/>
              </a:rPr>
              <a:t>A local cafe serving customers with food and beverages like pizza, Burgers, Coffee, Shakes and etc. They sell through walk in customers and delivery.</a:t>
            </a:r>
          </a:p>
        </p:txBody>
      </p:sp>
      <p:sp>
        <p:nvSpPr>
          <p:cNvPr id="10" name="TextBox 10"/>
          <p:cNvSpPr txBox="1"/>
          <p:nvPr/>
        </p:nvSpPr>
        <p:spPr>
          <a:xfrm>
            <a:off x="914400" y="4179178"/>
            <a:ext cx="8229600" cy="346954"/>
          </a:xfrm>
          <a:prstGeom prst="rect">
            <a:avLst/>
          </a:prstGeom>
        </p:spPr>
        <p:txBody>
          <a:bodyPr lIns="0" tIns="0" rIns="0" bIns="0" rtlCol="0" anchor="t">
            <a:spAutoFit/>
          </a:bodyPr>
          <a:lstStyle/>
          <a:p>
            <a:pPr algn="l">
              <a:lnSpc>
                <a:spcPts val="3024"/>
              </a:lnSpc>
            </a:pPr>
            <a:r>
              <a:rPr lang="en-US" sz="2000" b="1">
                <a:solidFill>
                  <a:srgbClr val="1E293B"/>
                </a:solidFill>
                <a:latin typeface="Arial" panose="020B0604020202020204" pitchFamily="34" charset="0"/>
                <a:ea typeface="Source Sans 3 Bold"/>
                <a:cs typeface="Arial" panose="020B0604020202020204" pitchFamily="34" charset="0"/>
                <a:sym typeface="Source Sans 3 Bold"/>
              </a:rPr>
              <a:t>Location</a:t>
            </a:r>
          </a:p>
        </p:txBody>
      </p:sp>
      <p:sp>
        <p:nvSpPr>
          <p:cNvPr id="11" name="TextBox 11"/>
          <p:cNvSpPr txBox="1"/>
          <p:nvPr/>
        </p:nvSpPr>
        <p:spPr>
          <a:xfrm>
            <a:off x="914400" y="4626853"/>
            <a:ext cx="8229600" cy="431323"/>
          </a:xfrm>
          <a:prstGeom prst="rect">
            <a:avLst/>
          </a:prstGeom>
        </p:spPr>
        <p:txBody>
          <a:bodyPr lIns="0" tIns="0" rIns="0" bIns="0" rtlCol="0" anchor="t">
            <a:spAutoFit/>
          </a:bodyPr>
          <a:lstStyle/>
          <a:p>
            <a:pPr algn="l">
              <a:lnSpc>
                <a:spcPts val="3744"/>
              </a:lnSpc>
            </a:pPr>
            <a:r>
              <a:rPr lang="en-US" sz="2200">
                <a:solidFill>
                  <a:srgbClr val="64748B"/>
                </a:solidFill>
                <a:latin typeface="Arial" panose="020B0604020202020204" pitchFamily="34" charset="0"/>
                <a:ea typeface="Source Sans 3"/>
                <a:cs typeface="Arial" panose="020B0604020202020204" pitchFamily="34" charset="0"/>
                <a:sym typeface="Source Sans 3"/>
              </a:rPr>
              <a:t>Shop number 13, A block, DDA Market, Anand Vihar, Delhi, India</a:t>
            </a:r>
          </a:p>
        </p:txBody>
      </p:sp>
      <p:sp>
        <p:nvSpPr>
          <p:cNvPr id="12" name="TextBox 12"/>
          <p:cNvSpPr txBox="1"/>
          <p:nvPr/>
        </p:nvSpPr>
        <p:spPr>
          <a:xfrm>
            <a:off x="914400" y="5250065"/>
            <a:ext cx="8229600" cy="346954"/>
          </a:xfrm>
          <a:prstGeom prst="rect">
            <a:avLst/>
          </a:prstGeom>
        </p:spPr>
        <p:txBody>
          <a:bodyPr lIns="0" tIns="0" rIns="0" bIns="0" rtlCol="0" anchor="t">
            <a:spAutoFit/>
          </a:bodyPr>
          <a:lstStyle/>
          <a:p>
            <a:pPr algn="l">
              <a:lnSpc>
                <a:spcPts val="3024"/>
              </a:lnSpc>
            </a:pPr>
            <a:r>
              <a:rPr lang="en-US" sz="2000" b="1">
                <a:solidFill>
                  <a:srgbClr val="1E293B"/>
                </a:solidFill>
                <a:latin typeface="Arial" panose="020B0604020202020204" pitchFamily="34" charset="0"/>
                <a:ea typeface="Source Sans 3 Bold"/>
                <a:cs typeface="Arial" panose="020B0604020202020204" pitchFamily="34" charset="0"/>
                <a:sym typeface="Source Sans 3 Bold"/>
              </a:rPr>
              <a:t>Study Duration</a:t>
            </a:r>
          </a:p>
        </p:txBody>
      </p:sp>
      <p:sp>
        <p:nvSpPr>
          <p:cNvPr id="13" name="TextBox 13"/>
          <p:cNvSpPr txBox="1"/>
          <p:nvPr/>
        </p:nvSpPr>
        <p:spPr>
          <a:xfrm>
            <a:off x="914400" y="5697740"/>
            <a:ext cx="8229600" cy="898080"/>
          </a:xfrm>
          <a:prstGeom prst="rect">
            <a:avLst/>
          </a:prstGeom>
        </p:spPr>
        <p:txBody>
          <a:bodyPr lIns="0" tIns="0" rIns="0" bIns="0" rtlCol="0" anchor="t">
            <a:spAutoFit/>
          </a:bodyPr>
          <a:lstStyle/>
          <a:p>
            <a:pPr algn="l">
              <a:lnSpc>
                <a:spcPts val="3744"/>
              </a:lnSpc>
            </a:pPr>
            <a:r>
              <a:rPr lang="en-US" sz="2200">
                <a:solidFill>
                  <a:srgbClr val="64748B"/>
                </a:solidFill>
                <a:latin typeface="Arial" panose="020B0604020202020204" pitchFamily="34" charset="0"/>
                <a:ea typeface="Source Sans 3"/>
                <a:cs typeface="Arial" panose="020B0604020202020204" pitchFamily="34" charset="0"/>
                <a:sym typeface="Source Sans 3"/>
              </a:rPr>
              <a:t>135 days of operational data captured over a 150-day period (15 days closed/unrecorded).</a:t>
            </a:r>
          </a:p>
        </p:txBody>
      </p:sp>
      <p:sp>
        <p:nvSpPr>
          <p:cNvPr id="14" name="TextBox 14"/>
          <p:cNvSpPr txBox="1"/>
          <p:nvPr/>
        </p:nvSpPr>
        <p:spPr>
          <a:xfrm>
            <a:off x="914400" y="6815016"/>
            <a:ext cx="8229600" cy="346954"/>
          </a:xfrm>
          <a:prstGeom prst="rect">
            <a:avLst/>
          </a:prstGeom>
        </p:spPr>
        <p:txBody>
          <a:bodyPr lIns="0" tIns="0" rIns="0" bIns="0" rtlCol="0" anchor="t">
            <a:spAutoFit/>
          </a:bodyPr>
          <a:lstStyle/>
          <a:p>
            <a:pPr algn="l">
              <a:lnSpc>
                <a:spcPts val="3024"/>
              </a:lnSpc>
            </a:pPr>
            <a:r>
              <a:rPr lang="en-US" sz="2000" b="1">
                <a:solidFill>
                  <a:srgbClr val="1E293B"/>
                </a:solidFill>
                <a:latin typeface="Arial" panose="020B0604020202020204" pitchFamily="34" charset="0"/>
                <a:ea typeface="Source Sans 3 Bold"/>
                <a:cs typeface="Arial" panose="020B0604020202020204" pitchFamily="34" charset="0"/>
                <a:sym typeface="Source Sans 3 Bold"/>
              </a:rPr>
              <a:t>Problem Faced By Onwer</a:t>
            </a:r>
          </a:p>
        </p:txBody>
      </p:sp>
      <p:sp>
        <p:nvSpPr>
          <p:cNvPr id="15" name="TextBox 15"/>
          <p:cNvSpPr txBox="1"/>
          <p:nvPr/>
        </p:nvSpPr>
        <p:spPr>
          <a:xfrm>
            <a:off x="914400" y="7262691"/>
            <a:ext cx="8229600" cy="2792496"/>
          </a:xfrm>
          <a:prstGeom prst="rect">
            <a:avLst/>
          </a:prstGeom>
        </p:spPr>
        <p:txBody>
          <a:bodyPr lIns="0" tIns="0" rIns="0" bIns="0" rtlCol="0" anchor="t">
            <a:spAutoFit/>
          </a:bodyPr>
          <a:lstStyle/>
          <a:p>
            <a:pPr algn="l">
              <a:lnSpc>
                <a:spcPts val="3744"/>
              </a:lnSpc>
            </a:pPr>
            <a:r>
              <a:rPr lang="en-US" sz="2200">
                <a:solidFill>
                  <a:srgbClr val="64748B"/>
                </a:solidFill>
                <a:latin typeface="Arial" panose="020B0604020202020204" pitchFamily="34" charset="0"/>
                <a:ea typeface="Source Sans 3"/>
                <a:cs typeface="Arial" panose="020B0604020202020204" pitchFamily="34" charset="0"/>
                <a:sym typeface="Source Sans 3"/>
              </a:rPr>
              <a:t>The owner of the cafe has been in the restaurant industry for quite a few years but the cafe has remained vulnerable to unpredicatable expenditure spikes. This project addresses the problem where sudden cost surges  dissolve profits. This unpredictability needs a more analytical approach to stabilize the business.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95375" y="557955"/>
            <a:ext cx="16097250" cy="296748"/>
          </a:xfrm>
          <a:prstGeom prst="rect">
            <a:avLst/>
          </a:prstGeom>
        </p:spPr>
        <p:txBody>
          <a:bodyPr lIns="0" tIns="0" rIns="0" bIns="0" rtlCol="0" anchor="t">
            <a:spAutoFit/>
          </a:bodyPr>
          <a:lstStyle/>
          <a:p>
            <a:pPr algn="l">
              <a:lnSpc>
                <a:spcPts val="2592"/>
              </a:lnSpc>
            </a:pPr>
            <a:r>
              <a:rPr lang="en-US" sz="1600" b="1" dirty="0">
                <a:solidFill>
                  <a:srgbClr val="C45D3A"/>
                </a:solidFill>
                <a:latin typeface="Arial" panose="020B0604020202020204" pitchFamily="34" charset="0"/>
                <a:ea typeface="Source Sans 3 Bold"/>
                <a:cs typeface="Arial" panose="020B0604020202020204" pitchFamily="34" charset="0"/>
                <a:sym typeface="Source Sans 3 Bold"/>
              </a:rPr>
              <a:t>IDENTIFIED CHALLENGES</a:t>
            </a:r>
          </a:p>
        </p:txBody>
      </p:sp>
      <p:sp>
        <p:nvSpPr>
          <p:cNvPr id="5" name="TextBox 5"/>
          <p:cNvSpPr txBox="1"/>
          <p:nvPr/>
        </p:nvSpPr>
        <p:spPr>
          <a:xfrm>
            <a:off x="1095375" y="1170603"/>
            <a:ext cx="16097250" cy="807913"/>
          </a:xfrm>
          <a:prstGeom prst="rect">
            <a:avLst/>
          </a:prstGeom>
        </p:spPr>
        <p:txBody>
          <a:bodyPr lIns="0" tIns="0" rIns="0" bIns="0" rtlCol="0" anchor="t">
            <a:spAutoFit/>
          </a:bodyPr>
          <a:lstStyle/>
          <a:p>
            <a:pPr algn="l">
              <a:lnSpc>
                <a:spcPts val="6292"/>
              </a:lnSpc>
            </a:pPr>
            <a:r>
              <a:rPr lang="en-US" sz="5400" dirty="0">
                <a:solidFill>
                  <a:srgbClr val="1E293B"/>
                </a:solidFill>
                <a:latin typeface="Arial" panose="020B0604020202020204" pitchFamily="34" charset="0"/>
                <a:ea typeface="DM Serif Display"/>
                <a:cs typeface="Arial" panose="020B0604020202020204" pitchFamily="34" charset="0"/>
                <a:sym typeface="DM Serif Display"/>
              </a:rPr>
              <a:t>Problem Statement &amp; Objectives</a:t>
            </a:r>
          </a:p>
        </p:txBody>
      </p:sp>
      <p:grpSp>
        <p:nvGrpSpPr>
          <p:cNvPr id="6" name="Group 6"/>
          <p:cNvGrpSpPr/>
          <p:nvPr/>
        </p:nvGrpSpPr>
        <p:grpSpPr>
          <a:xfrm>
            <a:off x="1092470" y="2720850"/>
            <a:ext cx="7781925" cy="1784463"/>
            <a:chOff x="0" y="0"/>
            <a:chExt cx="10375900" cy="2768600"/>
          </a:xfrm>
        </p:grpSpPr>
        <p:sp>
          <p:nvSpPr>
            <p:cNvPr id="7" name="Freeform 7"/>
            <p:cNvSpPr/>
            <p:nvPr/>
          </p:nvSpPr>
          <p:spPr>
            <a:xfrm>
              <a:off x="6350" y="6350"/>
              <a:ext cx="10363200" cy="2755900"/>
            </a:xfrm>
            <a:custGeom>
              <a:avLst/>
              <a:gdLst/>
              <a:ahLst/>
              <a:cxnLst/>
              <a:rect l="l" t="t" r="r" b="b"/>
              <a:pathLst>
                <a:path w="10363200" h="2755900">
                  <a:moveTo>
                    <a:pt x="0" y="172593"/>
                  </a:moveTo>
                  <a:cubicBezTo>
                    <a:pt x="0" y="77216"/>
                    <a:pt x="77597" y="0"/>
                    <a:pt x="173228" y="0"/>
                  </a:cubicBezTo>
                  <a:lnTo>
                    <a:pt x="10189972" y="0"/>
                  </a:lnTo>
                  <a:cubicBezTo>
                    <a:pt x="10285603" y="0"/>
                    <a:pt x="10363200" y="77216"/>
                    <a:pt x="10363200" y="172593"/>
                  </a:cubicBezTo>
                  <a:lnTo>
                    <a:pt x="10363200" y="2583307"/>
                  </a:lnTo>
                  <a:cubicBezTo>
                    <a:pt x="10363200" y="2678684"/>
                    <a:pt x="10285603" y="2755900"/>
                    <a:pt x="10189972" y="2755900"/>
                  </a:cubicBezTo>
                  <a:lnTo>
                    <a:pt x="173228" y="2755900"/>
                  </a:lnTo>
                  <a:cubicBezTo>
                    <a:pt x="77597" y="2755900"/>
                    <a:pt x="0" y="2678684"/>
                    <a:pt x="0" y="2583307"/>
                  </a:cubicBezTo>
                  <a:close/>
                </a:path>
              </a:pathLst>
            </a:custGeom>
            <a:solidFill>
              <a:srgbClr val="FFFFFF"/>
            </a:solidFill>
          </p:spPr>
        </p:sp>
        <p:sp>
          <p:nvSpPr>
            <p:cNvPr id="8" name="Freeform 8"/>
            <p:cNvSpPr/>
            <p:nvPr/>
          </p:nvSpPr>
          <p:spPr>
            <a:xfrm>
              <a:off x="0" y="0"/>
              <a:ext cx="10375900" cy="2768600"/>
            </a:xfrm>
            <a:custGeom>
              <a:avLst/>
              <a:gdLst/>
              <a:ahLst/>
              <a:cxnLst/>
              <a:rect l="l" t="t" r="r" b="b"/>
              <a:pathLst>
                <a:path w="10375900" h="2768600">
                  <a:moveTo>
                    <a:pt x="0" y="178943"/>
                  </a:moveTo>
                  <a:cubicBezTo>
                    <a:pt x="0" y="80137"/>
                    <a:pt x="80391" y="0"/>
                    <a:pt x="179578" y="0"/>
                  </a:cubicBezTo>
                  <a:lnTo>
                    <a:pt x="10196322" y="0"/>
                  </a:lnTo>
                  <a:lnTo>
                    <a:pt x="10196322" y="6350"/>
                  </a:lnTo>
                  <a:lnTo>
                    <a:pt x="10196322" y="0"/>
                  </a:lnTo>
                  <a:cubicBezTo>
                    <a:pt x="10295509" y="0"/>
                    <a:pt x="10375900" y="80137"/>
                    <a:pt x="10375900" y="178943"/>
                  </a:cubicBezTo>
                  <a:lnTo>
                    <a:pt x="10369550" y="178943"/>
                  </a:lnTo>
                  <a:lnTo>
                    <a:pt x="10375900" y="178943"/>
                  </a:lnTo>
                  <a:lnTo>
                    <a:pt x="10375900" y="2589657"/>
                  </a:lnTo>
                  <a:lnTo>
                    <a:pt x="10369550" y="2589657"/>
                  </a:lnTo>
                  <a:lnTo>
                    <a:pt x="10375900" y="2589657"/>
                  </a:lnTo>
                  <a:cubicBezTo>
                    <a:pt x="10375900" y="2688463"/>
                    <a:pt x="10295509" y="2768600"/>
                    <a:pt x="10196322" y="2768600"/>
                  </a:cubicBezTo>
                  <a:lnTo>
                    <a:pt x="10196322" y="2762250"/>
                  </a:lnTo>
                  <a:lnTo>
                    <a:pt x="10196322" y="2768600"/>
                  </a:lnTo>
                  <a:lnTo>
                    <a:pt x="179578" y="2768600"/>
                  </a:lnTo>
                  <a:lnTo>
                    <a:pt x="179578" y="2762250"/>
                  </a:lnTo>
                  <a:lnTo>
                    <a:pt x="179578" y="2768600"/>
                  </a:lnTo>
                  <a:cubicBezTo>
                    <a:pt x="80391" y="2768600"/>
                    <a:pt x="0" y="2688463"/>
                    <a:pt x="0" y="2589657"/>
                  </a:cubicBezTo>
                  <a:lnTo>
                    <a:pt x="0" y="178943"/>
                  </a:lnTo>
                  <a:lnTo>
                    <a:pt x="6350" y="178943"/>
                  </a:lnTo>
                  <a:lnTo>
                    <a:pt x="0" y="178943"/>
                  </a:lnTo>
                  <a:moveTo>
                    <a:pt x="12700" y="178943"/>
                  </a:moveTo>
                  <a:lnTo>
                    <a:pt x="12700" y="2589657"/>
                  </a:lnTo>
                  <a:lnTo>
                    <a:pt x="6350" y="2589657"/>
                  </a:lnTo>
                  <a:lnTo>
                    <a:pt x="12700" y="2589657"/>
                  </a:lnTo>
                  <a:cubicBezTo>
                    <a:pt x="12700" y="2681478"/>
                    <a:pt x="87376" y="2755900"/>
                    <a:pt x="179578" y="2755900"/>
                  </a:cubicBezTo>
                  <a:lnTo>
                    <a:pt x="10196322" y="2755900"/>
                  </a:lnTo>
                  <a:cubicBezTo>
                    <a:pt x="10288524" y="2755900"/>
                    <a:pt x="10363200" y="2681478"/>
                    <a:pt x="10363200" y="2589657"/>
                  </a:cubicBezTo>
                  <a:lnTo>
                    <a:pt x="10363200" y="178943"/>
                  </a:lnTo>
                  <a:cubicBezTo>
                    <a:pt x="10363200" y="87122"/>
                    <a:pt x="10288524" y="12700"/>
                    <a:pt x="10196322" y="12700"/>
                  </a:cubicBezTo>
                  <a:lnTo>
                    <a:pt x="179578" y="12700"/>
                  </a:lnTo>
                  <a:lnTo>
                    <a:pt x="179578" y="6350"/>
                  </a:lnTo>
                  <a:lnTo>
                    <a:pt x="179578" y="12700"/>
                  </a:lnTo>
                  <a:cubicBezTo>
                    <a:pt x="87376" y="12700"/>
                    <a:pt x="12700" y="87122"/>
                    <a:pt x="12700" y="178943"/>
                  </a:cubicBezTo>
                  <a:close/>
                </a:path>
              </a:pathLst>
            </a:custGeom>
            <a:solidFill>
              <a:srgbClr val="E2E0DA"/>
            </a:solidFill>
          </p:spPr>
        </p:sp>
      </p:grpSp>
      <p:grpSp>
        <p:nvGrpSpPr>
          <p:cNvPr id="9" name="Group 9"/>
          <p:cNvGrpSpPr/>
          <p:nvPr/>
        </p:nvGrpSpPr>
        <p:grpSpPr>
          <a:xfrm>
            <a:off x="1416101" y="2999995"/>
            <a:ext cx="638175" cy="548436"/>
            <a:chOff x="0" y="0"/>
            <a:chExt cx="850900" cy="850900"/>
          </a:xfrm>
        </p:grpSpPr>
        <p:sp>
          <p:nvSpPr>
            <p:cNvPr id="10" name="Freeform 10"/>
            <p:cNvSpPr/>
            <p:nvPr/>
          </p:nvSpPr>
          <p:spPr>
            <a:xfrm>
              <a:off x="0" y="0"/>
              <a:ext cx="850900" cy="850900"/>
            </a:xfrm>
            <a:custGeom>
              <a:avLst/>
              <a:gdLst/>
              <a:ahLst/>
              <a:cxnLst/>
              <a:rect l="l" t="t" r="r" b="b"/>
              <a:pathLst>
                <a:path w="850900" h="850900">
                  <a:moveTo>
                    <a:pt x="0" y="425450"/>
                  </a:moveTo>
                  <a:cubicBezTo>
                    <a:pt x="0" y="190500"/>
                    <a:pt x="190500" y="0"/>
                    <a:pt x="425450" y="0"/>
                  </a:cubicBezTo>
                  <a:cubicBezTo>
                    <a:pt x="660400" y="0"/>
                    <a:pt x="850900" y="190500"/>
                    <a:pt x="850900" y="425450"/>
                  </a:cubicBezTo>
                  <a:cubicBezTo>
                    <a:pt x="850900" y="660400"/>
                    <a:pt x="660400" y="850900"/>
                    <a:pt x="425450" y="850900"/>
                  </a:cubicBezTo>
                  <a:cubicBezTo>
                    <a:pt x="190500" y="850900"/>
                    <a:pt x="0" y="660400"/>
                    <a:pt x="0" y="425450"/>
                  </a:cubicBezTo>
                  <a:close/>
                </a:path>
              </a:pathLst>
            </a:custGeom>
            <a:solidFill>
              <a:srgbClr val="C4583B">
                <a:alpha val="784"/>
              </a:srgbClr>
            </a:solidFill>
          </p:spPr>
        </p:sp>
        <p:sp>
          <p:nvSpPr>
            <p:cNvPr id="11" name="TextBox 11"/>
            <p:cNvSpPr txBox="1"/>
            <p:nvPr/>
          </p:nvSpPr>
          <p:spPr>
            <a:xfrm>
              <a:off x="0" y="-95250"/>
              <a:ext cx="850900" cy="946150"/>
            </a:xfrm>
            <a:prstGeom prst="rect">
              <a:avLst/>
            </a:prstGeom>
          </p:spPr>
          <p:txBody>
            <a:bodyPr lIns="50800" tIns="50800" rIns="50800" bIns="50800" rtlCol="0" anchor="ctr"/>
            <a:lstStyle/>
            <a:p>
              <a:pPr algn="ctr">
                <a:lnSpc>
                  <a:spcPts val="3888"/>
                </a:lnSpc>
              </a:pPr>
              <a:r>
                <a:rPr lang="en-US" sz="2400">
                  <a:solidFill>
                    <a:srgbClr val="C45D3A"/>
                  </a:solidFill>
                  <a:latin typeface="Arial" panose="020B0604020202020204" pitchFamily="34" charset="0"/>
                  <a:ea typeface="DM Serif Display"/>
                  <a:cs typeface="Arial" panose="020B0604020202020204" pitchFamily="34" charset="0"/>
                  <a:sym typeface="DM Serif Display"/>
                </a:rPr>
                <a:t>01</a:t>
              </a:r>
            </a:p>
          </p:txBody>
        </p:sp>
      </p:grpSp>
      <p:sp>
        <p:nvSpPr>
          <p:cNvPr id="12" name="TextBox 12"/>
          <p:cNvSpPr txBox="1"/>
          <p:nvPr/>
        </p:nvSpPr>
        <p:spPr>
          <a:xfrm>
            <a:off x="2330644" y="2705313"/>
            <a:ext cx="6219825" cy="445122"/>
          </a:xfrm>
          <a:prstGeom prst="rect">
            <a:avLst/>
          </a:prstGeom>
        </p:spPr>
        <p:txBody>
          <a:bodyPr wrap="square" lIns="0" tIns="0" rIns="0" bIns="0" rtlCol="0" anchor="t">
            <a:spAutoFit/>
          </a:bodyPr>
          <a:lstStyle/>
          <a:p>
            <a:pPr algn="l">
              <a:lnSpc>
                <a:spcPts val="3888"/>
              </a:lnSpc>
            </a:pPr>
            <a:r>
              <a:rPr lang="en-US" sz="2400" b="1" dirty="0">
                <a:solidFill>
                  <a:srgbClr val="1E293B"/>
                </a:solidFill>
                <a:latin typeface="Arial" panose="020B0604020202020204" pitchFamily="34" charset="0"/>
                <a:ea typeface="Source Sans 3 Bold"/>
                <a:cs typeface="Arial" panose="020B0604020202020204" pitchFamily="34" charset="0"/>
                <a:sym typeface="Source Sans 3 Bold"/>
              </a:rPr>
              <a:t>Unpredictable Sales</a:t>
            </a:r>
          </a:p>
        </p:txBody>
      </p:sp>
      <p:sp>
        <p:nvSpPr>
          <p:cNvPr id="13" name="TextBox 13"/>
          <p:cNvSpPr txBox="1"/>
          <p:nvPr/>
        </p:nvSpPr>
        <p:spPr>
          <a:xfrm>
            <a:off x="2330644" y="3118687"/>
            <a:ext cx="6219825" cy="1222194"/>
          </a:xfrm>
          <a:prstGeom prst="rect">
            <a:avLst/>
          </a:prstGeom>
        </p:spPr>
        <p:txBody>
          <a:bodyPr wrap="square" lIns="0" tIns="0" rIns="0" bIns="0" rtlCol="0" anchor="t">
            <a:spAutoFit/>
          </a:bodyPr>
          <a:lstStyle/>
          <a:p>
            <a:pPr>
              <a:lnSpc>
                <a:spcPts val="3275"/>
              </a:lnSpc>
            </a:pPr>
            <a:r>
              <a:rPr lang="en-US" sz="2000" dirty="0">
                <a:latin typeface="Arial" panose="020B0604020202020204" pitchFamily="34" charset="0"/>
                <a:cs typeface="Arial" panose="020B0604020202020204" pitchFamily="34" charset="0"/>
              </a:rPr>
              <a:t>Daily revenue fluctuates heavily, making it difficult to forecast income or plan raw material purchases efficiently</a:t>
            </a:r>
            <a:endParaRPr lang="en-US" sz="2000" dirty="0">
              <a:solidFill>
                <a:srgbClr val="64748B"/>
              </a:solidFill>
              <a:latin typeface="Arial" panose="020B0604020202020204" pitchFamily="34" charset="0"/>
              <a:ea typeface="Source Sans 3"/>
              <a:cs typeface="Arial" panose="020B0604020202020204" pitchFamily="34" charset="0"/>
              <a:sym typeface="Source Sans 3"/>
            </a:endParaRPr>
          </a:p>
        </p:txBody>
      </p:sp>
      <p:grpSp>
        <p:nvGrpSpPr>
          <p:cNvPr id="14" name="Group 14"/>
          <p:cNvGrpSpPr/>
          <p:nvPr/>
        </p:nvGrpSpPr>
        <p:grpSpPr>
          <a:xfrm>
            <a:off x="9413605" y="2710034"/>
            <a:ext cx="7781925" cy="1784463"/>
            <a:chOff x="0" y="0"/>
            <a:chExt cx="10375900" cy="2768600"/>
          </a:xfrm>
        </p:grpSpPr>
        <p:sp>
          <p:nvSpPr>
            <p:cNvPr id="15" name="Freeform 15"/>
            <p:cNvSpPr/>
            <p:nvPr/>
          </p:nvSpPr>
          <p:spPr>
            <a:xfrm>
              <a:off x="6350" y="6350"/>
              <a:ext cx="10363200" cy="2755900"/>
            </a:xfrm>
            <a:custGeom>
              <a:avLst/>
              <a:gdLst/>
              <a:ahLst/>
              <a:cxnLst/>
              <a:rect l="l" t="t" r="r" b="b"/>
              <a:pathLst>
                <a:path w="10363200" h="2755900">
                  <a:moveTo>
                    <a:pt x="0" y="172593"/>
                  </a:moveTo>
                  <a:cubicBezTo>
                    <a:pt x="0" y="77216"/>
                    <a:pt x="77597" y="0"/>
                    <a:pt x="173228" y="0"/>
                  </a:cubicBezTo>
                  <a:lnTo>
                    <a:pt x="10189972" y="0"/>
                  </a:lnTo>
                  <a:cubicBezTo>
                    <a:pt x="10285603" y="0"/>
                    <a:pt x="10363200" y="77216"/>
                    <a:pt x="10363200" y="172593"/>
                  </a:cubicBezTo>
                  <a:lnTo>
                    <a:pt x="10363200" y="2583307"/>
                  </a:lnTo>
                  <a:cubicBezTo>
                    <a:pt x="10363200" y="2678684"/>
                    <a:pt x="10285603" y="2755900"/>
                    <a:pt x="10189972" y="2755900"/>
                  </a:cubicBezTo>
                  <a:lnTo>
                    <a:pt x="173228" y="2755900"/>
                  </a:lnTo>
                  <a:cubicBezTo>
                    <a:pt x="77597" y="2755900"/>
                    <a:pt x="0" y="2678684"/>
                    <a:pt x="0" y="2583307"/>
                  </a:cubicBezTo>
                  <a:close/>
                </a:path>
              </a:pathLst>
            </a:custGeom>
            <a:solidFill>
              <a:srgbClr val="FFFFFF"/>
            </a:solidFill>
          </p:spPr>
        </p:sp>
        <p:sp>
          <p:nvSpPr>
            <p:cNvPr id="16" name="Freeform 16"/>
            <p:cNvSpPr/>
            <p:nvPr/>
          </p:nvSpPr>
          <p:spPr>
            <a:xfrm>
              <a:off x="0" y="0"/>
              <a:ext cx="10375900" cy="2768600"/>
            </a:xfrm>
            <a:custGeom>
              <a:avLst/>
              <a:gdLst/>
              <a:ahLst/>
              <a:cxnLst/>
              <a:rect l="l" t="t" r="r" b="b"/>
              <a:pathLst>
                <a:path w="10375900" h="2768600">
                  <a:moveTo>
                    <a:pt x="0" y="178943"/>
                  </a:moveTo>
                  <a:cubicBezTo>
                    <a:pt x="0" y="80137"/>
                    <a:pt x="80391" y="0"/>
                    <a:pt x="179578" y="0"/>
                  </a:cubicBezTo>
                  <a:lnTo>
                    <a:pt x="10196322" y="0"/>
                  </a:lnTo>
                  <a:lnTo>
                    <a:pt x="10196322" y="6350"/>
                  </a:lnTo>
                  <a:lnTo>
                    <a:pt x="10196322" y="0"/>
                  </a:lnTo>
                  <a:cubicBezTo>
                    <a:pt x="10295509" y="0"/>
                    <a:pt x="10375900" y="80137"/>
                    <a:pt x="10375900" y="178943"/>
                  </a:cubicBezTo>
                  <a:lnTo>
                    <a:pt x="10369550" y="178943"/>
                  </a:lnTo>
                  <a:lnTo>
                    <a:pt x="10375900" y="178943"/>
                  </a:lnTo>
                  <a:lnTo>
                    <a:pt x="10375900" y="2589657"/>
                  </a:lnTo>
                  <a:lnTo>
                    <a:pt x="10369550" y="2589657"/>
                  </a:lnTo>
                  <a:lnTo>
                    <a:pt x="10375900" y="2589657"/>
                  </a:lnTo>
                  <a:cubicBezTo>
                    <a:pt x="10375900" y="2688463"/>
                    <a:pt x="10295509" y="2768600"/>
                    <a:pt x="10196322" y="2768600"/>
                  </a:cubicBezTo>
                  <a:lnTo>
                    <a:pt x="10196322" y="2762250"/>
                  </a:lnTo>
                  <a:lnTo>
                    <a:pt x="10196322" y="2768600"/>
                  </a:lnTo>
                  <a:lnTo>
                    <a:pt x="179578" y="2768600"/>
                  </a:lnTo>
                  <a:lnTo>
                    <a:pt x="179578" y="2762250"/>
                  </a:lnTo>
                  <a:lnTo>
                    <a:pt x="179578" y="2768600"/>
                  </a:lnTo>
                  <a:cubicBezTo>
                    <a:pt x="80391" y="2768600"/>
                    <a:pt x="0" y="2688463"/>
                    <a:pt x="0" y="2589657"/>
                  </a:cubicBezTo>
                  <a:lnTo>
                    <a:pt x="0" y="178943"/>
                  </a:lnTo>
                  <a:lnTo>
                    <a:pt x="6350" y="178943"/>
                  </a:lnTo>
                  <a:lnTo>
                    <a:pt x="0" y="178943"/>
                  </a:lnTo>
                  <a:moveTo>
                    <a:pt x="12700" y="178943"/>
                  </a:moveTo>
                  <a:lnTo>
                    <a:pt x="12700" y="2589657"/>
                  </a:lnTo>
                  <a:lnTo>
                    <a:pt x="6350" y="2589657"/>
                  </a:lnTo>
                  <a:lnTo>
                    <a:pt x="12700" y="2589657"/>
                  </a:lnTo>
                  <a:cubicBezTo>
                    <a:pt x="12700" y="2681478"/>
                    <a:pt x="87376" y="2755900"/>
                    <a:pt x="179578" y="2755900"/>
                  </a:cubicBezTo>
                  <a:lnTo>
                    <a:pt x="10196322" y="2755900"/>
                  </a:lnTo>
                  <a:cubicBezTo>
                    <a:pt x="10288524" y="2755900"/>
                    <a:pt x="10363200" y="2681478"/>
                    <a:pt x="10363200" y="2589657"/>
                  </a:cubicBezTo>
                  <a:lnTo>
                    <a:pt x="10363200" y="178943"/>
                  </a:lnTo>
                  <a:cubicBezTo>
                    <a:pt x="10363200" y="87122"/>
                    <a:pt x="10288524" y="12700"/>
                    <a:pt x="10196322" y="12700"/>
                  </a:cubicBezTo>
                  <a:lnTo>
                    <a:pt x="179578" y="12700"/>
                  </a:lnTo>
                  <a:lnTo>
                    <a:pt x="179578" y="6350"/>
                  </a:lnTo>
                  <a:lnTo>
                    <a:pt x="179578" y="12700"/>
                  </a:lnTo>
                  <a:cubicBezTo>
                    <a:pt x="87376" y="12700"/>
                    <a:pt x="12700" y="87122"/>
                    <a:pt x="12700" y="178943"/>
                  </a:cubicBezTo>
                  <a:close/>
                </a:path>
              </a:pathLst>
            </a:custGeom>
            <a:solidFill>
              <a:srgbClr val="E2E0DA"/>
            </a:solidFill>
          </p:spPr>
        </p:sp>
      </p:grpSp>
      <p:grpSp>
        <p:nvGrpSpPr>
          <p:cNvPr id="17" name="Group 17"/>
          <p:cNvGrpSpPr/>
          <p:nvPr/>
        </p:nvGrpSpPr>
        <p:grpSpPr>
          <a:xfrm>
            <a:off x="9737227" y="2989179"/>
            <a:ext cx="638175" cy="548436"/>
            <a:chOff x="0" y="0"/>
            <a:chExt cx="850900" cy="850900"/>
          </a:xfrm>
        </p:grpSpPr>
        <p:sp>
          <p:nvSpPr>
            <p:cNvPr id="18" name="Freeform 18"/>
            <p:cNvSpPr/>
            <p:nvPr/>
          </p:nvSpPr>
          <p:spPr>
            <a:xfrm>
              <a:off x="0" y="0"/>
              <a:ext cx="850900" cy="850900"/>
            </a:xfrm>
            <a:custGeom>
              <a:avLst/>
              <a:gdLst/>
              <a:ahLst/>
              <a:cxnLst/>
              <a:rect l="l" t="t" r="r" b="b"/>
              <a:pathLst>
                <a:path w="850900" h="850900">
                  <a:moveTo>
                    <a:pt x="0" y="425450"/>
                  </a:moveTo>
                  <a:cubicBezTo>
                    <a:pt x="0" y="190500"/>
                    <a:pt x="190500" y="0"/>
                    <a:pt x="425450" y="0"/>
                  </a:cubicBezTo>
                  <a:cubicBezTo>
                    <a:pt x="660400" y="0"/>
                    <a:pt x="850900" y="190500"/>
                    <a:pt x="850900" y="425450"/>
                  </a:cubicBezTo>
                  <a:cubicBezTo>
                    <a:pt x="850900" y="660400"/>
                    <a:pt x="660400" y="850900"/>
                    <a:pt x="425450" y="850900"/>
                  </a:cubicBezTo>
                  <a:cubicBezTo>
                    <a:pt x="190500" y="850900"/>
                    <a:pt x="0" y="660400"/>
                    <a:pt x="0" y="425450"/>
                  </a:cubicBezTo>
                  <a:close/>
                </a:path>
              </a:pathLst>
            </a:custGeom>
            <a:solidFill>
              <a:srgbClr val="C4583B">
                <a:alpha val="784"/>
              </a:srgbClr>
            </a:solidFill>
          </p:spPr>
        </p:sp>
        <p:sp>
          <p:nvSpPr>
            <p:cNvPr id="19" name="TextBox 19"/>
            <p:cNvSpPr txBox="1"/>
            <p:nvPr/>
          </p:nvSpPr>
          <p:spPr>
            <a:xfrm>
              <a:off x="0" y="-95250"/>
              <a:ext cx="850900" cy="946150"/>
            </a:xfrm>
            <a:prstGeom prst="rect">
              <a:avLst/>
            </a:prstGeom>
          </p:spPr>
          <p:txBody>
            <a:bodyPr lIns="50800" tIns="50800" rIns="50800" bIns="50800" rtlCol="0" anchor="ctr"/>
            <a:lstStyle/>
            <a:p>
              <a:pPr algn="ctr">
                <a:lnSpc>
                  <a:spcPts val="3888"/>
                </a:lnSpc>
              </a:pPr>
              <a:r>
                <a:rPr lang="en-US" sz="2400">
                  <a:solidFill>
                    <a:srgbClr val="C45D3A"/>
                  </a:solidFill>
                  <a:latin typeface="Arial" panose="020B0604020202020204" pitchFamily="34" charset="0"/>
                  <a:ea typeface="DM Serif Display"/>
                  <a:cs typeface="Arial" panose="020B0604020202020204" pitchFamily="34" charset="0"/>
                  <a:sym typeface="DM Serif Display"/>
                </a:rPr>
                <a:t>02</a:t>
              </a:r>
            </a:p>
          </p:txBody>
        </p:sp>
      </p:grpSp>
      <p:sp>
        <p:nvSpPr>
          <p:cNvPr id="20" name="TextBox 20"/>
          <p:cNvSpPr txBox="1"/>
          <p:nvPr/>
        </p:nvSpPr>
        <p:spPr>
          <a:xfrm>
            <a:off x="10651779" y="2694497"/>
            <a:ext cx="6219825" cy="445122"/>
          </a:xfrm>
          <a:prstGeom prst="rect">
            <a:avLst/>
          </a:prstGeom>
        </p:spPr>
        <p:txBody>
          <a:bodyPr wrap="square" lIns="0" tIns="0" rIns="0" bIns="0" rtlCol="0" anchor="t">
            <a:spAutoFit/>
          </a:bodyPr>
          <a:lstStyle/>
          <a:p>
            <a:pPr algn="l">
              <a:lnSpc>
                <a:spcPts val="3888"/>
              </a:lnSpc>
            </a:pPr>
            <a:r>
              <a:rPr lang="en-US" sz="2400" b="1" dirty="0">
                <a:solidFill>
                  <a:srgbClr val="1E293B"/>
                </a:solidFill>
                <a:latin typeface="Arial" panose="020B0604020202020204" pitchFamily="34" charset="0"/>
                <a:ea typeface="Source Sans 3 Bold"/>
                <a:cs typeface="Arial" panose="020B0604020202020204" pitchFamily="34" charset="0"/>
                <a:sym typeface="Source Sans 3 Bold"/>
              </a:rPr>
              <a:t>Unexplored cost inefficiencies</a:t>
            </a:r>
          </a:p>
        </p:txBody>
      </p:sp>
      <p:sp>
        <p:nvSpPr>
          <p:cNvPr id="21" name="TextBox 21"/>
          <p:cNvSpPr txBox="1"/>
          <p:nvPr/>
        </p:nvSpPr>
        <p:spPr>
          <a:xfrm>
            <a:off x="10651779" y="3107871"/>
            <a:ext cx="6219825" cy="1222194"/>
          </a:xfrm>
          <a:prstGeom prst="rect">
            <a:avLst/>
          </a:prstGeom>
        </p:spPr>
        <p:txBody>
          <a:bodyPr wrap="square" lIns="0" tIns="0" rIns="0" bIns="0" rtlCol="0" anchor="t">
            <a:spAutoFit/>
          </a:bodyPr>
          <a:lstStyle/>
          <a:p>
            <a:pPr>
              <a:lnSpc>
                <a:spcPts val="3275"/>
              </a:lnSpc>
            </a:pPr>
            <a:r>
              <a:rPr lang="en-US" sz="2000" dirty="0">
                <a:latin typeface="Arial" panose="020B0604020202020204" pitchFamily="34" charset="0"/>
                <a:cs typeface="Arial" panose="020B0604020202020204" pitchFamily="34" charset="0"/>
              </a:rPr>
              <a:t>Expense records exist but have never been analyzed, so unnecessary spending goes unidentified and uncontrolled.</a:t>
            </a:r>
            <a:endParaRPr lang="en-US" sz="2000" dirty="0">
              <a:solidFill>
                <a:srgbClr val="64748B"/>
              </a:solidFill>
              <a:latin typeface="Arial" panose="020B0604020202020204" pitchFamily="34" charset="0"/>
              <a:ea typeface="Source Sans 3"/>
              <a:cs typeface="Arial" panose="020B0604020202020204" pitchFamily="34" charset="0"/>
              <a:sym typeface="Source Sans 3"/>
            </a:endParaRPr>
          </a:p>
        </p:txBody>
      </p:sp>
      <p:grpSp>
        <p:nvGrpSpPr>
          <p:cNvPr id="22" name="Group 22"/>
          <p:cNvGrpSpPr/>
          <p:nvPr/>
        </p:nvGrpSpPr>
        <p:grpSpPr>
          <a:xfrm>
            <a:off x="1092470" y="5386874"/>
            <a:ext cx="7781925" cy="1784456"/>
            <a:chOff x="0" y="0"/>
            <a:chExt cx="10375900" cy="2768600"/>
          </a:xfrm>
        </p:grpSpPr>
        <p:sp>
          <p:nvSpPr>
            <p:cNvPr id="23" name="Freeform 23"/>
            <p:cNvSpPr/>
            <p:nvPr/>
          </p:nvSpPr>
          <p:spPr>
            <a:xfrm>
              <a:off x="6350" y="6350"/>
              <a:ext cx="10363200" cy="2755900"/>
            </a:xfrm>
            <a:custGeom>
              <a:avLst/>
              <a:gdLst/>
              <a:ahLst/>
              <a:cxnLst/>
              <a:rect l="l" t="t" r="r" b="b"/>
              <a:pathLst>
                <a:path w="10363200" h="2755900">
                  <a:moveTo>
                    <a:pt x="0" y="172593"/>
                  </a:moveTo>
                  <a:cubicBezTo>
                    <a:pt x="0" y="77216"/>
                    <a:pt x="77597" y="0"/>
                    <a:pt x="173228" y="0"/>
                  </a:cubicBezTo>
                  <a:lnTo>
                    <a:pt x="10189972" y="0"/>
                  </a:lnTo>
                  <a:cubicBezTo>
                    <a:pt x="10285603" y="0"/>
                    <a:pt x="10363200" y="77216"/>
                    <a:pt x="10363200" y="172593"/>
                  </a:cubicBezTo>
                  <a:lnTo>
                    <a:pt x="10363200" y="2583307"/>
                  </a:lnTo>
                  <a:cubicBezTo>
                    <a:pt x="10363200" y="2678684"/>
                    <a:pt x="10285603" y="2755900"/>
                    <a:pt x="10189972" y="2755900"/>
                  </a:cubicBezTo>
                  <a:lnTo>
                    <a:pt x="173228" y="2755900"/>
                  </a:lnTo>
                  <a:cubicBezTo>
                    <a:pt x="77597" y="2755900"/>
                    <a:pt x="0" y="2678684"/>
                    <a:pt x="0" y="2583307"/>
                  </a:cubicBezTo>
                  <a:close/>
                </a:path>
              </a:pathLst>
            </a:custGeom>
            <a:solidFill>
              <a:srgbClr val="FFFFFF"/>
            </a:solidFill>
          </p:spPr>
        </p:sp>
        <p:sp>
          <p:nvSpPr>
            <p:cNvPr id="24" name="Freeform 24"/>
            <p:cNvSpPr/>
            <p:nvPr/>
          </p:nvSpPr>
          <p:spPr>
            <a:xfrm>
              <a:off x="0" y="0"/>
              <a:ext cx="10375900" cy="2768600"/>
            </a:xfrm>
            <a:custGeom>
              <a:avLst/>
              <a:gdLst/>
              <a:ahLst/>
              <a:cxnLst/>
              <a:rect l="l" t="t" r="r" b="b"/>
              <a:pathLst>
                <a:path w="10375900" h="2768600">
                  <a:moveTo>
                    <a:pt x="0" y="178943"/>
                  </a:moveTo>
                  <a:cubicBezTo>
                    <a:pt x="0" y="80137"/>
                    <a:pt x="80391" y="0"/>
                    <a:pt x="179578" y="0"/>
                  </a:cubicBezTo>
                  <a:lnTo>
                    <a:pt x="10196322" y="0"/>
                  </a:lnTo>
                  <a:lnTo>
                    <a:pt x="10196322" y="6350"/>
                  </a:lnTo>
                  <a:lnTo>
                    <a:pt x="10196322" y="0"/>
                  </a:lnTo>
                  <a:cubicBezTo>
                    <a:pt x="10295509" y="0"/>
                    <a:pt x="10375900" y="80137"/>
                    <a:pt x="10375900" y="178943"/>
                  </a:cubicBezTo>
                  <a:lnTo>
                    <a:pt x="10369550" y="178943"/>
                  </a:lnTo>
                  <a:lnTo>
                    <a:pt x="10375900" y="178943"/>
                  </a:lnTo>
                  <a:lnTo>
                    <a:pt x="10375900" y="2589657"/>
                  </a:lnTo>
                  <a:lnTo>
                    <a:pt x="10369550" y="2589657"/>
                  </a:lnTo>
                  <a:lnTo>
                    <a:pt x="10375900" y="2589657"/>
                  </a:lnTo>
                  <a:cubicBezTo>
                    <a:pt x="10375900" y="2688463"/>
                    <a:pt x="10295509" y="2768600"/>
                    <a:pt x="10196322" y="2768600"/>
                  </a:cubicBezTo>
                  <a:lnTo>
                    <a:pt x="10196322" y="2762250"/>
                  </a:lnTo>
                  <a:lnTo>
                    <a:pt x="10196322" y="2768600"/>
                  </a:lnTo>
                  <a:lnTo>
                    <a:pt x="179578" y="2768600"/>
                  </a:lnTo>
                  <a:lnTo>
                    <a:pt x="179578" y="2762250"/>
                  </a:lnTo>
                  <a:lnTo>
                    <a:pt x="179578" y="2768600"/>
                  </a:lnTo>
                  <a:cubicBezTo>
                    <a:pt x="80391" y="2768600"/>
                    <a:pt x="0" y="2688463"/>
                    <a:pt x="0" y="2589657"/>
                  </a:cubicBezTo>
                  <a:lnTo>
                    <a:pt x="0" y="178943"/>
                  </a:lnTo>
                  <a:lnTo>
                    <a:pt x="6350" y="178943"/>
                  </a:lnTo>
                  <a:lnTo>
                    <a:pt x="0" y="178943"/>
                  </a:lnTo>
                  <a:moveTo>
                    <a:pt x="12700" y="178943"/>
                  </a:moveTo>
                  <a:lnTo>
                    <a:pt x="12700" y="2589657"/>
                  </a:lnTo>
                  <a:lnTo>
                    <a:pt x="6350" y="2589657"/>
                  </a:lnTo>
                  <a:lnTo>
                    <a:pt x="12700" y="2589657"/>
                  </a:lnTo>
                  <a:cubicBezTo>
                    <a:pt x="12700" y="2681478"/>
                    <a:pt x="87376" y="2755900"/>
                    <a:pt x="179578" y="2755900"/>
                  </a:cubicBezTo>
                  <a:lnTo>
                    <a:pt x="10196322" y="2755900"/>
                  </a:lnTo>
                  <a:cubicBezTo>
                    <a:pt x="10288524" y="2755900"/>
                    <a:pt x="10363200" y="2681478"/>
                    <a:pt x="10363200" y="2589657"/>
                  </a:cubicBezTo>
                  <a:lnTo>
                    <a:pt x="10363200" y="178943"/>
                  </a:lnTo>
                  <a:cubicBezTo>
                    <a:pt x="10363200" y="87122"/>
                    <a:pt x="10288524" y="12700"/>
                    <a:pt x="10196322" y="12700"/>
                  </a:cubicBezTo>
                  <a:lnTo>
                    <a:pt x="179578" y="12700"/>
                  </a:lnTo>
                  <a:lnTo>
                    <a:pt x="179578" y="6350"/>
                  </a:lnTo>
                  <a:lnTo>
                    <a:pt x="179578" y="12700"/>
                  </a:lnTo>
                  <a:cubicBezTo>
                    <a:pt x="87376" y="12700"/>
                    <a:pt x="12700" y="87122"/>
                    <a:pt x="12700" y="178943"/>
                  </a:cubicBezTo>
                  <a:close/>
                </a:path>
              </a:pathLst>
            </a:custGeom>
            <a:solidFill>
              <a:srgbClr val="E2E0DA"/>
            </a:solidFill>
          </p:spPr>
        </p:sp>
      </p:grpSp>
      <p:grpSp>
        <p:nvGrpSpPr>
          <p:cNvPr id="25" name="Group 25"/>
          <p:cNvGrpSpPr/>
          <p:nvPr/>
        </p:nvGrpSpPr>
        <p:grpSpPr>
          <a:xfrm>
            <a:off x="1416101" y="5666011"/>
            <a:ext cx="638175" cy="548433"/>
            <a:chOff x="0" y="0"/>
            <a:chExt cx="850900" cy="850900"/>
          </a:xfrm>
        </p:grpSpPr>
        <p:sp>
          <p:nvSpPr>
            <p:cNvPr id="26" name="Freeform 26"/>
            <p:cNvSpPr/>
            <p:nvPr/>
          </p:nvSpPr>
          <p:spPr>
            <a:xfrm>
              <a:off x="0" y="0"/>
              <a:ext cx="850900" cy="850900"/>
            </a:xfrm>
            <a:custGeom>
              <a:avLst/>
              <a:gdLst/>
              <a:ahLst/>
              <a:cxnLst/>
              <a:rect l="l" t="t" r="r" b="b"/>
              <a:pathLst>
                <a:path w="850900" h="850900">
                  <a:moveTo>
                    <a:pt x="0" y="425450"/>
                  </a:moveTo>
                  <a:cubicBezTo>
                    <a:pt x="0" y="190500"/>
                    <a:pt x="190500" y="0"/>
                    <a:pt x="425450" y="0"/>
                  </a:cubicBezTo>
                  <a:cubicBezTo>
                    <a:pt x="660400" y="0"/>
                    <a:pt x="850900" y="190500"/>
                    <a:pt x="850900" y="425450"/>
                  </a:cubicBezTo>
                  <a:cubicBezTo>
                    <a:pt x="850900" y="660400"/>
                    <a:pt x="660400" y="850900"/>
                    <a:pt x="425450" y="850900"/>
                  </a:cubicBezTo>
                  <a:cubicBezTo>
                    <a:pt x="190500" y="850900"/>
                    <a:pt x="0" y="660400"/>
                    <a:pt x="0" y="425450"/>
                  </a:cubicBezTo>
                  <a:close/>
                </a:path>
              </a:pathLst>
            </a:custGeom>
            <a:solidFill>
              <a:srgbClr val="C4583B">
                <a:alpha val="784"/>
              </a:srgbClr>
            </a:solidFill>
          </p:spPr>
        </p:sp>
        <p:sp>
          <p:nvSpPr>
            <p:cNvPr id="27" name="TextBox 27"/>
            <p:cNvSpPr txBox="1"/>
            <p:nvPr/>
          </p:nvSpPr>
          <p:spPr>
            <a:xfrm>
              <a:off x="0" y="-95250"/>
              <a:ext cx="850900" cy="946150"/>
            </a:xfrm>
            <a:prstGeom prst="rect">
              <a:avLst/>
            </a:prstGeom>
          </p:spPr>
          <p:txBody>
            <a:bodyPr lIns="50800" tIns="50800" rIns="50800" bIns="50800" rtlCol="0" anchor="ctr"/>
            <a:lstStyle/>
            <a:p>
              <a:pPr algn="ctr">
                <a:lnSpc>
                  <a:spcPts val="3888"/>
                </a:lnSpc>
              </a:pPr>
              <a:r>
                <a:rPr lang="en-US" sz="2400" dirty="0">
                  <a:solidFill>
                    <a:srgbClr val="C45D3A"/>
                  </a:solidFill>
                  <a:latin typeface="Arial" panose="020B0604020202020204" pitchFamily="34" charset="0"/>
                  <a:ea typeface="DM Serif Display"/>
                  <a:cs typeface="Arial" panose="020B0604020202020204" pitchFamily="34" charset="0"/>
                  <a:sym typeface="DM Serif Display"/>
                </a:rPr>
                <a:t>01</a:t>
              </a:r>
            </a:p>
          </p:txBody>
        </p:sp>
      </p:grpSp>
      <p:sp>
        <p:nvSpPr>
          <p:cNvPr id="28" name="TextBox 28"/>
          <p:cNvSpPr txBox="1"/>
          <p:nvPr/>
        </p:nvSpPr>
        <p:spPr>
          <a:xfrm>
            <a:off x="2330644" y="5371330"/>
            <a:ext cx="6219825" cy="445122"/>
          </a:xfrm>
          <a:prstGeom prst="rect">
            <a:avLst/>
          </a:prstGeom>
        </p:spPr>
        <p:txBody>
          <a:bodyPr lIns="0" tIns="0" rIns="0" bIns="0" rtlCol="0" anchor="t">
            <a:spAutoFit/>
          </a:bodyPr>
          <a:lstStyle/>
          <a:p>
            <a:pPr algn="l">
              <a:lnSpc>
                <a:spcPts val="3888"/>
              </a:lnSpc>
            </a:pPr>
            <a:r>
              <a:rPr lang="en-US" sz="2400" b="1" dirty="0">
                <a:solidFill>
                  <a:srgbClr val="1E293B"/>
                </a:solidFill>
                <a:latin typeface="Arial" panose="020B0604020202020204" pitchFamily="34" charset="0"/>
                <a:ea typeface="Source Sans 3 Bold"/>
                <a:cs typeface="Arial" panose="020B0604020202020204" pitchFamily="34" charset="0"/>
                <a:sym typeface="Source Sans 3 Bold"/>
              </a:rPr>
              <a:t>Identify Sales Patterns</a:t>
            </a:r>
          </a:p>
        </p:txBody>
      </p:sp>
      <p:sp>
        <p:nvSpPr>
          <p:cNvPr id="29" name="TextBox 29"/>
          <p:cNvSpPr txBox="1"/>
          <p:nvPr/>
        </p:nvSpPr>
        <p:spPr>
          <a:xfrm>
            <a:off x="2330644" y="5784701"/>
            <a:ext cx="6219825" cy="799001"/>
          </a:xfrm>
          <a:prstGeom prst="rect">
            <a:avLst/>
          </a:prstGeom>
        </p:spPr>
        <p:txBody>
          <a:bodyPr lIns="0" tIns="0" rIns="0" bIns="0" rtlCol="0" anchor="t">
            <a:spAutoFit/>
          </a:bodyPr>
          <a:lstStyle/>
          <a:p>
            <a:pPr algn="l">
              <a:lnSpc>
                <a:spcPts val="3275"/>
              </a:lnSpc>
            </a:pPr>
            <a:r>
              <a:rPr lang="en-US" sz="2000" dirty="0">
                <a:latin typeface="Arial" panose="020B0604020202020204" pitchFamily="34" charset="0"/>
                <a:ea typeface="Source Sans 3"/>
                <a:cs typeface="Arial" panose="020B0604020202020204" pitchFamily="34" charset="0"/>
                <a:sym typeface="Source Sans 3"/>
              </a:rPr>
              <a:t>Determine which days consistently perform better to enable smarter stock purchasing and reduce wastage.</a:t>
            </a:r>
          </a:p>
        </p:txBody>
      </p:sp>
      <p:grpSp>
        <p:nvGrpSpPr>
          <p:cNvPr id="30" name="Group 30"/>
          <p:cNvGrpSpPr/>
          <p:nvPr/>
        </p:nvGrpSpPr>
        <p:grpSpPr>
          <a:xfrm>
            <a:off x="9473012" y="5388993"/>
            <a:ext cx="7781925" cy="1778898"/>
            <a:chOff x="0" y="0"/>
            <a:chExt cx="10375900" cy="2768600"/>
          </a:xfrm>
        </p:grpSpPr>
        <p:sp>
          <p:nvSpPr>
            <p:cNvPr id="31" name="Freeform 31"/>
            <p:cNvSpPr/>
            <p:nvPr/>
          </p:nvSpPr>
          <p:spPr>
            <a:xfrm>
              <a:off x="6350" y="6350"/>
              <a:ext cx="10363200" cy="2755900"/>
            </a:xfrm>
            <a:custGeom>
              <a:avLst/>
              <a:gdLst/>
              <a:ahLst/>
              <a:cxnLst/>
              <a:rect l="l" t="t" r="r" b="b"/>
              <a:pathLst>
                <a:path w="10363200" h="2755900">
                  <a:moveTo>
                    <a:pt x="0" y="172593"/>
                  </a:moveTo>
                  <a:cubicBezTo>
                    <a:pt x="0" y="77216"/>
                    <a:pt x="77597" y="0"/>
                    <a:pt x="173228" y="0"/>
                  </a:cubicBezTo>
                  <a:lnTo>
                    <a:pt x="10189972" y="0"/>
                  </a:lnTo>
                  <a:cubicBezTo>
                    <a:pt x="10285603" y="0"/>
                    <a:pt x="10363200" y="77216"/>
                    <a:pt x="10363200" y="172593"/>
                  </a:cubicBezTo>
                  <a:lnTo>
                    <a:pt x="10363200" y="2583307"/>
                  </a:lnTo>
                  <a:cubicBezTo>
                    <a:pt x="10363200" y="2678684"/>
                    <a:pt x="10285603" y="2755900"/>
                    <a:pt x="10189972" y="2755900"/>
                  </a:cubicBezTo>
                  <a:lnTo>
                    <a:pt x="173228" y="2755900"/>
                  </a:lnTo>
                  <a:cubicBezTo>
                    <a:pt x="77597" y="2755900"/>
                    <a:pt x="0" y="2678684"/>
                    <a:pt x="0" y="2583307"/>
                  </a:cubicBezTo>
                  <a:close/>
                </a:path>
              </a:pathLst>
            </a:custGeom>
            <a:solidFill>
              <a:srgbClr val="FFFFFF"/>
            </a:solidFill>
          </p:spPr>
        </p:sp>
        <p:sp>
          <p:nvSpPr>
            <p:cNvPr id="32" name="Freeform 32"/>
            <p:cNvSpPr/>
            <p:nvPr/>
          </p:nvSpPr>
          <p:spPr>
            <a:xfrm>
              <a:off x="0" y="0"/>
              <a:ext cx="10375900" cy="2768600"/>
            </a:xfrm>
            <a:custGeom>
              <a:avLst/>
              <a:gdLst/>
              <a:ahLst/>
              <a:cxnLst/>
              <a:rect l="l" t="t" r="r" b="b"/>
              <a:pathLst>
                <a:path w="10375900" h="2768600">
                  <a:moveTo>
                    <a:pt x="0" y="178943"/>
                  </a:moveTo>
                  <a:cubicBezTo>
                    <a:pt x="0" y="80137"/>
                    <a:pt x="80391" y="0"/>
                    <a:pt x="179578" y="0"/>
                  </a:cubicBezTo>
                  <a:lnTo>
                    <a:pt x="10196322" y="0"/>
                  </a:lnTo>
                  <a:lnTo>
                    <a:pt x="10196322" y="6350"/>
                  </a:lnTo>
                  <a:lnTo>
                    <a:pt x="10196322" y="0"/>
                  </a:lnTo>
                  <a:cubicBezTo>
                    <a:pt x="10295509" y="0"/>
                    <a:pt x="10375900" y="80137"/>
                    <a:pt x="10375900" y="178943"/>
                  </a:cubicBezTo>
                  <a:lnTo>
                    <a:pt x="10369550" y="178943"/>
                  </a:lnTo>
                  <a:lnTo>
                    <a:pt x="10375900" y="178943"/>
                  </a:lnTo>
                  <a:lnTo>
                    <a:pt x="10375900" y="2589657"/>
                  </a:lnTo>
                  <a:lnTo>
                    <a:pt x="10369550" y="2589657"/>
                  </a:lnTo>
                  <a:lnTo>
                    <a:pt x="10375900" y="2589657"/>
                  </a:lnTo>
                  <a:cubicBezTo>
                    <a:pt x="10375900" y="2688463"/>
                    <a:pt x="10295509" y="2768600"/>
                    <a:pt x="10196322" y="2768600"/>
                  </a:cubicBezTo>
                  <a:lnTo>
                    <a:pt x="10196322" y="2762250"/>
                  </a:lnTo>
                  <a:lnTo>
                    <a:pt x="10196322" y="2768600"/>
                  </a:lnTo>
                  <a:lnTo>
                    <a:pt x="179578" y="2768600"/>
                  </a:lnTo>
                  <a:lnTo>
                    <a:pt x="179578" y="2762250"/>
                  </a:lnTo>
                  <a:lnTo>
                    <a:pt x="179578" y="2768600"/>
                  </a:lnTo>
                  <a:cubicBezTo>
                    <a:pt x="80391" y="2768600"/>
                    <a:pt x="0" y="2688463"/>
                    <a:pt x="0" y="2589657"/>
                  </a:cubicBezTo>
                  <a:lnTo>
                    <a:pt x="0" y="178943"/>
                  </a:lnTo>
                  <a:lnTo>
                    <a:pt x="6350" y="178943"/>
                  </a:lnTo>
                  <a:lnTo>
                    <a:pt x="0" y="178943"/>
                  </a:lnTo>
                  <a:moveTo>
                    <a:pt x="12700" y="178943"/>
                  </a:moveTo>
                  <a:lnTo>
                    <a:pt x="12700" y="2589657"/>
                  </a:lnTo>
                  <a:lnTo>
                    <a:pt x="6350" y="2589657"/>
                  </a:lnTo>
                  <a:lnTo>
                    <a:pt x="12700" y="2589657"/>
                  </a:lnTo>
                  <a:cubicBezTo>
                    <a:pt x="12700" y="2681478"/>
                    <a:pt x="87376" y="2755900"/>
                    <a:pt x="179578" y="2755900"/>
                  </a:cubicBezTo>
                  <a:lnTo>
                    <a:pt x="10196322" y="2755900"/>
                  </a:lnTo>
                  <a:cubicBezTo>
                    <a:pt x="10288524" y="2755900"/>
                    <a:pt x="10363200" y="2681478"/>
                    <a:pt x="10363200" y="2589657"/>
                  </a:cubicBezTo>
                  <a:lnTo>
                    <a:pt x="10363200" y="178943"/>
                  </a:lnTo>
                  <a:cubicBezTo>
                    <a:pt x="10363200" y="87122"/>
                    <a:pt x="10288524" y="12700"/>
                    <a:pt x="10196322" y="12700"/>
                  </a:cubicBezTo>
                  <a:lnTo>
                    <a:pt x="179578" y="12700"/>
                  </a:lnTo>
                  <a:lnTo>
                    <a:pt x="179578" y="6350"/>
                  </a:lnTo>
                  <a:lnTo>
                    <a:pt x="179578" y="12700"/>
                  </a:lnTo>
                  <a:cubicBezTo>
                    <a:pt x="87376" y="12700"/>
                    <a:pt x="12700" y="87122"/>
                    <a:pt x="12700" y="178943"/>
                  </a:cubicBezTo>
                  <a:close/>
                </a:path>
              </a:pathLst>
            </a:custGeom>
            <a:solidFill>
              <a:srgbClr val="E2E0DA"/>
            </a:solidFill>
          </p:spPr>
        </p:sp>
      </p:grpSp>
      <p:grpSp>
        <p:nvGrpSpPr>
          <p:cNvPr id="33" name="Group 33"/>
          <p:cNvGrpSpPr/>
          <p:nvPr/>
        </p:nvGrpSpPr>
        <p:grpSpPr>
          <a:xfrm>
            <a:off x="9796634" y="5667260"/>
            <a:ext cx="638175" cy="546725"/>
            <a:chOff x="0" y="0"/>
            <a:chExt cx="850900" cy="850900"/>
          </a:xfrm>
        </p:grpSpPr>
        <p:sp>
          <p:nvSpPr>
            <p:cNvPr id="34" name="Freeform 34"/>
            <p:cNvSpPr/>
            <p:nvPr/>
          </p:nvSpPr>
          <p:spPr>
            <a:xfrm>
              <a:off x="0" y="0"/>
              <a:ext cx="850900" cy="850900"/>
            </a:xfrm>
            <a:custGeom>
              <a:avLst/>
              <a:gdLst/>
              <a:ahLst/>
              <a:cxnLst/>
              <a:rect l="l" t="t" r="r" b="b"/>
              <a:pathLst>
                <a:path w="850900" h="850900">
                  <a:moveTo>
                    <a:pt x="0" y="425450"/>
                  </a:moveTo>
                  <a:cubicBezTo>
                    <a:pt x="0" y="190500"/>
                    <a:pt x="190500" y="0"/>
                    <a:pt x="425450" y="0"/>
                  </a:cubicBezTo>
                  <a:cubicBezTo>
                    <a:pt x="660400" y="0"/>
                    <a:pt x="850900" y="190500"/>
                    <a:pt x="850900" y="425450"/>
                  </a:cubicBezTo>
                  <a:cubicBezTo>
                    <a:pt x="850900" y="660400"/>
                    <a:pt x="660400" y="850900"/>
                    <a:pt x="425450" y="850900"/>
                  </a:cubicBezTo>
                  <a:cubicBezTo>
                    <a:pt x="190500" y="850900"/>
                    <a:pt x="0" y="660400"/>
                    <a:pt x="0" y="425450"/>
                  </a:cubicBezTo>
                  <a:close/>
                </a:path>
              </a:pathLst>
            </a:custGeom>
            <a:solidFill>
              <a:srgbClr val="C4583B">
                <a:alpha val="784"/>
              </a:srgbClr>
            </a:solidFill>
          </p:spPr>
        </p:sp>
        <p:sp>
          <p:nvSpPr>
            <p:cNvPr id="35" name="TextBox 35"/>
            <p:cNvSpPr txBox="1"/>
            <p:nvPr/>
          </p:nvSpPr>
          <p:spPr>
            <a:xfrm>
              <a:off x="0" y="-95250"/>
              <a:ext cx="850900" cy="946150"/>
            </a:xfrm>
            <a:prstGeom prst="rect">
              <a:avLst/>
            </a:prstGeom>
          </p:spPr>
          <p:txBody>
            <a:bodyPr lIns="50800" tIns="50800" rIns="50800" bIns="50800" rtlCol="0" anchor="ctr"/>
            <a:lstStyle/>
            <a:p>
              <a:pPr algn="ctr">
                <a:lnSpc>
                  <a:spcPts val="3888"/>
                </a:lnSpc>
              </a:pPr>
              <a:r>
                <a:rPr lang="en-US" sz="2400" dirty="0">
                  <a:solidFill>
                    <a:srgbClr val="C45D3A"/>
                  </a:solidFill>
                  <a:latin typeface="Arial" panose="020B0604020202020204" pitchFamily="34" charset="0"/>
                  <a:ea typeface="DM Serif Display"/>
                  <a:cs typeface="Arial" panose="020B0604020202020204" pitchFamily="34" charset="0"/>
                  <a:sym typeface="DM Serif Display"/>
                </a:rPr>
                <a:t>02</a:t>
              </a:r>
            </a:p>
          </p:txBody>
        </p:sp>
      </p:grpSp>
      <p:sp>
        <p:nvSpPr>
          <p:cNvPr id="36" name="TextBox 36"/>
          <p:cNvSpPr txBox="1"/>
          <p:nvPr/>
        </p:nvSpPr>
        <p:spPr>
          <a:xfrm>
            <a:off x="10711186" y="5367891"/>
            <a:ext cx="6219825" cy="445122"/>
          </a:xfrm>
          <a:prstGeom prst="rect">
            <a:avLst/>
          </a:prstGeom>
        </p:spPr>
        <p:txBody>
          <a:bodyPr lIns="0" tIns="0" rIns="0" bIns="0" rtlCol="0" anchor="t">
            <a:spAutoFit/>
          </a:bodyPr>
          <a:lstStyle/>
          <a:p>
            <a:pPr algn="l">
              <a:lnSpc>
                <a:spcPts val="3888"/>
              </a:lnSpc>
            </a:pPr>
            <a:r>
              <a:rPr lang="en-US" sz="2400" b="1" dirty="0">
                <a:solidFill>
                  <a:srgbClr val="1E293B"/>
                </a:solidFill>
                <a:latin typeface="Arial" panose="020B0604020202020204" pitchFamily="34" charset="0"/>
                <a:ea typeface="Source Sans 3 Bold"/>
                <a:cs typeface="Arial" panose="020B0604020202020204" pitchFamily="34" charset="0"/>
                <a:sym typeface="Source Sans 3 Bold"/>
              </a:rPr>
              <a:t>Track Expense Behavior</a:t>
            </a:r>
          </a:p>
        </p:txBody>
      </p:sp>
      <p:sp>
        <p:nvSpPr>
          <p:cNvPr id="37" name="TextBox 37"/>
          <p:cNvSpPr txBox="1"/>
          <p:nvPr/>
        </p:nvSpPr>
        <p:spPr>
          <a:xfrm>
            <a:off x="10711186" y="5867182"/>
            <a:ext cx="6219825" cy="799001"/>
          </a:xfrm>
          <a:prstGeom prst="rect">
            <a:avLst/>
          </a:prstGeom>
        </p:spPr>
        <p:txBody>
          <a:bodyPr lIns="0" tIns="0" rIns="0" bIns="0" rtlCol="0" anchor="t">
            <a:spAutoFit/>
          </a:bodyPr>
          <a:lstStyle/>
          <a:p>
            <a:pPr algn="l">
              <a:lnSpc>
                <a:spcPts val="3275"/>
              </a:lnSpc>
            </a:pPr>
            <a:r>
              <a:rPr lang="en-US" sz="2000" dirty="0">
                <a:latin typeface="Arial" panose="020B0604020202020204" pitchFamily="34" charset="0"/>
                <a:ea typeface="Source Sans 3"/>
                <a:cs typeface="Arial" panose="020B0604020202020204" pitchFamily="34" charset="0"/>
                <a:sym typeface="Source Sans 3"/>
              </a:rPr>
              <a:t>Compare daily expenses against sales to pinpoint where avoidable costs are occurring.</a:t>
            </a:r>
          </a:p>
        </p:txBody>
      </p:sp>
      <p:sp>
        <p:nvSpPr>
          <p:cNvPr id="42" name="Freeform 42"/>
          <p:cNvSpPr/>
          <p:nvPr/>
        </p:nvSpPr>
        <p:spPr>
          <a:xfrm>
            <a:off x="9415464" y="7662228"/>
            <a:ext cx="7773674" cy="1791743"/>
          </a:xfrm>
          <a:custGeom>
            <a:avLst/>
            <a:gdLst/>
            <a:ahLst/>
            <a:cxnLst/>
            <a:rect l="l" t="t" r="r" b="b"/>
            <a:pathLst>
              <a:path w="10359331" h="2755900">
                <a:moveTo>
                  <a:pt x="0" y="172593"/>
                </a:moveTo>
                <a:cubicBezTo>
                  <a:pt x="0" y="77216"/>
                  <a:pt x="77568" y="0"/>
                  <a:pt x="173163" y="0"/>
                </a:cubicBezTo>
                <a:lnTo>
                  <a:pt x="10186167" y="0"/>
                </a:lnTo>
                <a:cubicBezTo>
                  <a:pt x="10281763" y="0"/>
                  <a:pt x="10359331" y="77216"/>
                  <a:pt x="10359331" y="172593"/>
                </a:cubicBezTo>
                <a:lnTo>
                  <a:pt x="10359331" y="2583307"/>
                </a:lnTo>
                <a:cubicBezTo>
                  <a:pt x="10359331" y="2678684"/>
                  <a:pt x="10281763" y="2755900"/>
                  <a:pt x="10186167" y="2755900"/>
                </a:cubicBezTo>
                <a:lnTo>
                  <a:pt x="173163" y="2755900"/>
                </a:lnTo>
                <a:cubicBezTo>
                  <a:pt x="77568" y="2755900"/>
                  <a:pt x="0" y="2678684"/>
                  <a:pt x="0" y="2583307"/>
                </a:cubicBezTo>
                <a:close/>
              </a:path>
            </a:pathLst>
          </a:custGeom>
          <a:solidFill>
            <a:srgbClr val="FFFFFF"/>
          </a:solidFill>
        </p:spPr>
      </p:sp>
      <p:sp>
        <p:nvSpPr>
          <p:cNvPr id="43" name="Freeform 43"/>
          <p:cNvSpPr/>
          <p:nvPr/>
        </p:nvSpPr>
        <p:spPr>
          <a:xfrm>
            <a:off x="9410700" y="7658100"/>
            <a:ext cx="7783201" cy="1800000"/>
          </a:xfrm>
          <a:custGeom>
            <a:avLst/>
            <a:gdLst/>
            <a:ahLst/>
            <a:cxnLst/>
            <a:rect l="l" t="t" r="r" b="b"/>
            <a:pathLst>
              <a:path w="10372027" h="2768600">
                <a:moveTo>
                  <a:pt x="0" y="178943"/>
                </a:moveTo>
                <a:cubicBezTo>
                  <a:pt x="0" y="80137"/>
                  <a:pt x="80361" y="0"/>
                  <a:pt x="179511" y="0"/>
                </a:cubicBezTo>
                <a:lnTo>
                  <a:pt x="10192515" y="0"/>
                </a:lnTo>
                <a:lnTo>
                  <a:pt x="10192515" y="6350"/>
                </a:lnTo>
                <a:lnTo>
                  <a:pt x="10192515" y="0"/>
                </a:lnTo>
                <a:cubicBezTo>
                  <a:pt x="10291666" y="0"/>
                  <a:pt x="10372027" y="80137"/>
                  <a:pt x="10372027" y="178943"/>
                </a:cubicBezTo>
                <a:lnTo>
                  <a:pt x="10365679" y="178943"/>
                </a:lnTo>
                <a:lnTo>
                  <a:pt x="10372027" y="178943"/>
                </a:lnTo>
                <a:lnTo>
                  <a:pt x="10372027" y="2589657"/>
                </a:lnTo>
                <a:lnTo>
                  <a:pt x="10365679" y="2589657"/>
                </a:lnTo>
                <a:lnTo>
                  <a:pt x="10372027" y="2589657"/>
                </a:lnTo>
                <a:cubicBezTo>
                  <a:pt x="10372027" y="2688463"/>
                  <a:pt x="10291666" y="2768600"/>
                  <a:pt x="10192515" y="2768600"/>
                </a:cubicBezTo>
                <a:lnTo>
                  <a:pt x="10192515" y="2762250"/>
                </a:lnTo>
                <a:lnTo>
                  <a:pt x="10192515" y="2768600"/>
                </a:lnTo>
                <a:lnTo>
                  <a:pt x="179511" y="2768600"/>
                </a:lnTo>
                <a:lnTo>
                  <a:pt x="179511" y="2762250"/>
                </a:lnTo>
                <a:lnTo>
                  <a:pt x="179511" y="2768600"/>
                </a:lnTo>
                <a:cubicBezTo>
                  <a:pt x="80361" y="2768600"/>
                  <a:pt x="0" y="2688463"/>
                  <a:pt x="0" y="2589657"/>
                </a:cubicBezTo>
                <a:lnTo>
                  <a:pt x="0" y="178943"/>
                </a:lnTo>
                <a:lnTo>
                  <a:pt x="6348" y="178943"/>
                </a:lnTo>
                <a:lnTo>
                  <a:pt x="0" y="178943"/>
                </a:lnTo>
                <a:moveTo>
                  <a:pt x="12695" y="178943"/>
                </a:moveTo>
                <a:lnTo>
                  <a:pt x="12695" y="2589657"/>
                </a:lnTo>
                <a:lnTo>
                  <a:pt x="6348" y="2589657"/>
                </a:lnTo>
                <a:lnTo>
                  <a:pt x="12695" y="2589657"/>
                </a:lnTo>
                <a:cubicBezTo>
                  <a:pt x="12695" y="2681478"/>
                  <a:pt x="87343" y="2755900"/>
                  <a:pt x="179511" y="2755900"/>
                </a:cubicBezTo>
                <a:lnTo>
                  <a:pt x="10192515" y="2755900"/>
                </a:lnTo>
                <a:cubicBezTo>
                  <a:pt x="10284683" y="2755900"/>
                  <a:pt x="10359331" y="2681478"/>
                  <a:pt x="10359331" y="2589657"/>
                </a:cubicBezTo>
                <a:lnTo>
                  <a:pt x="10359331" y="178943"/>
                </a:lnTo>
                <a:cubicBezTo>
                  <a:pt x="10359331" y="87122"/>
                  <a:pt x="10284683" y="12700"/>
                  <a:pt x="10192515" y="12700"/>
                </a:cubicBezTo>
                <a:lnTo>
                  <a:pt x="179511" y="12700"/>
                </a:lnTo>
                <a:lnTo>
                  <a:pt x="179511" y="6350"/>
                </a:lnTo>
                <a:lnTo>
                  <a:pt x="179511" y="12700"/>
                </a:lnTo>
                <a:cubicBezTo>
                  <a:pt x="87343" y="12700"/>
                  <a:pt x="12695" y="87122"/>
                  <a:pt x="12695" y="178943"/>
                </a:cubicBezTo>
                <a:close/>
              </a:path>
            </a:pathLst>
          </a:custGeom>
          <a:solidFill>
            <a:srgbClr val="E2E0DA"/>
          </a:solidFill>
        </p:spPr>
      </p:sp>
      <p:grpSp>
        <p:nvGrpSpPr>
          <p:cNvPr id="47" name="Group 47"/>
          <p:cNvGrpSpPr/>
          <p:nvPr/>
        </p:nvGrpSpPr>
        <p:grpSpPr>
          <a:xfrm>
            <a:off x="9734321" y="8093884"/>
            <a:ext cx="638176" cy="553212"/>
            <a:chOff x="0" y="0"/>
            <a:chExt cx="850900" cy="850900"/>
          </a:xfrm>
        </p:grpSpPr>
        <p:sp>
          <p:nvSpPr>
            <p:cNvPr id="48" name="Freeform 48"/>
            <p:cNvSpPr/>
            <p:nvPr/>
          </p:nvSpPr>
          <p:spPr>
            <a:xfrm>
              <a:off x="0" y="0"/>
              <a:ext cx="850900" cy="850900"/>
            </a:xfrm>
            <a:custGeom>
              <a:avLst/>
              <a:gdLst/>
              <a:ahLst/>
              <a:cxnLst/>
              <a:rect l="l" t="t" r="r" b="b"/>
              <a:pathLst>
                <a:path w="850900" h="850900">
                  <a:moveTo>
                    <a:pt x="0" y="425450"/>
                  </a:moveTo>
                  <a:cubicBezTo>
                    <a:pt x="0" y="190500"/>
                    <a:pt x="190500" y="0"/>
                    <a:pt x="425450" y="0"/>
                  </a:cubicBezTo>
                  <a:cubicBezTo>
                    <a:pt x="660400" y="0"/>
                    <a:pt x="850900" y="190500"/>
                    <a:pt x="850900" y="425450"/>
                  </a:cubicBezTo>
                  <a:cubicBezTo>
                    <a:pt x="850900" y="660400"/>
                    <a:pt x="660400" y="850900"/>
                    <a:pt x="425450" y="850900"/>
                  </a:cubicBezTo>
                  <a:cubicBezTo>
                    <a:pt x="190500" y="850900"/>
                    <a:pt x="0" y="660400"/>
                    <a:pt x="0" y="425450"/>
                  </a:cubicBezTo>
                  <a:close/>
                </a:path>
              </a:pathLst>
            </a:custGeom>
            <a:solidFill>
              <a:srgbClr val="C4583B">
                <a:alpha val="784"/>
              </a:srgbClr>
            </a:solidFill>
          </p:spPr>
        </p:sp>
        <p:sp>
          <p:nvSpPr>
            <p:cNvPr id="49" name="TextBox 49"/>
            <p:cNvSpPr txBox="1"/>
            <p:nvPr/>
          </p:nvSpPr>
          <p:spPr>
            <a:xfrm>
              <a:off x="0" y="-95250"/>
              <a:ext cx="850900" cy="946150"/>
            </a:xfrm>
            <a:prstGeom prst="rect">
              <a:avLst/>
            </a:prstGeom>
          </p:spPr>
          <p:txBody>
            <a:bodyPr lIns="50800" tIns="50800" rIns="50800" bIns="50800" rtlCol="0" anchor="ctr"/>
            <a:lstStyle/>
            <a:p>
              <a:pPr algn="ctr">
                <a:lnSpc>
                  <a:spcPts val="3888"/>
                </a:lnSpc>
              </a:pPr>
              <a:r>
                <a:rPr lang="en-US" sz="2400" dirty="0">
                  <a:solidFill>
                    <a:srgbClr val="C45D3A"/>
                  </a:solidFill>
                  <a:latin typeface="Arial" panose="020B0604020202020204" pitchFamily="34" charset="0"/>
                  <a:ea typeface="DM Serif Display"/>
                  <a:cs typeface="Arial" panose="020B0604020202020204" pitchFamily="34" charset="0"/>
                  <a:sym typeface="DM Serif Display"/>
                </a:rPr>
                <a:t>04</a:t>
              </a:r>
            </a:p>
          </p:txBody>
        </p:sp>
      </p:grpSp>
      <p:sp>
        <p:nvSpPr>
          <p:cNvPr id="51" name="TextBox 51"/>
          <p:cNvSpPr txBox="1"/>
          <p:nvPr/>
        </p:nvSpPr>
        <p:spPr>
          <a:xfrm>
            <a:off x="10648874" y="7701214"/>
            <a:ext cx="6219825" cy="445122"/>
          </a:xfrm>
          <a:prstGeom prst="rect">
            <a:avLst/>
          </a:prstGeom>
        </p:spPr>
        <p:txBody>
          <a:bodyPr lIns="0" tIns="0" rIns="0" bIns="0" rtlCol="0" anchor="t">
            <a:spAutoFit/>
          </a:bodyPr>
          <a:lstStyle/>
          <a:p>
            <a:pPr algn="l">
              <a:lnSpc>
                <a:spcPts val="3888"/>
              </a:lnSpc>
            </a:pPr>
            <a:r>
              <a:rPr lang="en-US" sz="2400" b="1" dirty="0">
                <a:solidFill>
                  <a:srgbClr val="1E293B"/>
                </a:solidFill>
                <a:latin typeface="Arial" panose="020B0604020202020204" pitchFamily="34" charset="0"/>
                <a:ea typeface="Source Sans 3 Bold"/>
                <a:cs typeface="Arial" panose="020B0604020202020204" pitchFamily="34" charset="0"/>
                <a:sym typeface="Source Sans 3 Bold"/>
              </a:rPr>
              <a:t>Enable Data-Driven Decisions</a:t>
            </a:r>
          </a:p>
        </p:txBody>
      </p:sp>
      <p:grpSp>
        <p:nvGrpSpPr>
          <p:cNvPr id="38" name="Group 38"/>
          <p:cNvGrpSpPr/>
          <p:nvPr/>
        </p:nvGrpSpPr>
        <p:grpSpPr>
          <a:xfrm>
            <a:off x="1092470" y="7658100"/>
            <a:ext cx="7783200" cy="1800000"/>
            <a:chOff x="0" y="0"/>
            <a:chExt cx="10372026" cy="2768600"/>
          </a:xfrm>
        </p:grpSpPr>
        <p:sp>
          <p:nvSpPr>
            <p:cNvPr id="39" name="Freeform 39"/>
            <p:cNvSpPr/>
            <p:nvPr/>
          </p:nvSpPr>
          <p:spPr>
            <a:xfrm>
              <a:off x="6348" y="6350"/>
              <a:ext cx="10359331" cy="2755900"/>
            </a:xfrm>
            <a:custGeom>
              <a:avLst/>
              <a:gdLst/>
              <a:ahLst/>
              <a:cxnLst/>
              <a:rect l="l" t="t" r="r" b="b"/>
              <a:pathLst>
                <a:path w="10359331" h="2755900">
                  <a:moveTo>
                    <a:pt x="0" y="172593"/>
                  </a:moveTo>
                  <a:cubicBezTo>
                    <a:pt x="0" y="77216"/>
                    <a:pt x="77568" y="0"/>
                    <a:pt x="173163" y="0"/>
                  </a:cubicBezTo>
                  <a:lnTo>
                    <a:pt x="10186167" y="0"/>
                  </a:lnTo>
                  <a:cubicBezTo>
                    <a:pt x="10281763" y="0"/>
                    <a:pt x="10359331" y="77216"/>
                    <a:pt x="10359331" y="172593"/>
                  </a:cubicBezTo>
                  <a:lnTo>
                    <a:pt x="10359331" y="2583307"/>
                  </a:lnTo>
                  <a:cubicBezTo>
                    <a:pt x="10359331" y="2678684"/>
                    <a:pt x="10281763" y="2755900"/>
                    <a:pt x="10186167" y="2755900"/>
                  </a:cubicBezTo>
                  <a:lnTo>
                    <a:pt x="173163" y="2755900"/>
                  </a:lnTo>
                  <a:cubicBezTo>
                    <a:pt x="77568" y="2755900"/>
                    <a:pt x="0" y="2678684"/>
                    <a:pt x="0" y="2583307"/>
                  </a:cubicBezTo>
                  <a:close/>
                </a:path>
              </a:pathLst>
            </a:custGeom>
            <a:solidFill>
              <a:srgbClr val="FFFFFF"/>
            </a:solidFill>
          </p:spPr>
        </p:sp>
        <p:sp>
          <p:nvSpPr>
            <p:cNvPr id="40" name="Freeform 40"/>
            <p:cNvSpPr/>
            <p:nvPr/>
          </p:nvSpPr>
          <p:spPr>
            <a:xfrm>
              <a:off x="0" y="0"/>
              <a:ext cx="10372027" cy="2768600"/>
            </a:xfrm>
            <a:custGeom>
              <a:avLst/>
              <a:gdLst/>
              <a:ahLst/>
              <a:cxnLst/>
              <a:rect l="l" t="t" r="r" b="b"/>
              <a:pathLst>
                <a:path w="10372027" h="2768600">
                  <a:moveTo>
                    <a:pt x="0" y="178943"/>
                  </a:moveTo>
                  <a:cubicBezTo>
                    <a:pt x="0" y="80137"/>
                    <a:pt x="80361" y="0"/>
                    <a:pt x="179511" y="0"/>
                  </a:cubicBezTo>
                  <a:lnTo>
                    <a:pt x="10192515" y="0"/>
                  </a:lnTo>
                  <a:lnTo>
                    <a:pt x="10192515" y="6350"/>
                  </a:lnTo>
                  <a:lnTo>
                    <a:pt x="10192515" y="0"/>
                  </a:lnTo>
                  <a:cubicBezTo>
                    <a:pt x="10291666" y="0"/>
                    <a:pt x="10372027" y="80137"/>
                    <a:pt x="10372027" y="178943"/>
                  </a:cubicBezTo>
                  <a:lnTo>
                    <a:pt x="10365679" y="178943"/>
                  </a:lnTo>
                  <a:lnTo>
                    <a:pt x="10372027" y="178943"/>
                  </a:lnTo>
                  <a:lnTo>
                    <a:pt x="10372027" y="2589657"/>
                  </a:lnTo>
                  <a:lnTo>
                    <a:pt x="10365679" y="2589657"/>
                  </a:lnTo>
                  <a:lnTo>
                    <a:pt x="10372027" y="2589657"/>
                  </a:lnTo>
                  <a:cubicBezTo>
                    <a:pt x="10372027" y="2688463"/>
                    <a:pt x="10291666" y="2768600"/>
                    <a:pt x="10192515" y="2768600"/>
                  </a:cubicBezTo>
                  <a:lnTo>
                    <a:pt x="10192515" y="2762250"/>
                  </a:lnTo>
                  <a:lnTo>
                    <a:pt x="10192515" y="2768600"/>
                  </a:lnTo>
                  <a:lnTo>
                    <a:pt x="179511" y="2768600"/>
                  </a:lnTo>
                  <a:lnTo>
                    <a:pt x="179511" y="2762250"/>
                  </a:lnTo>
                  <a:lnTo>
                    <a:pt x="179511" y="2768600"/>
                  </a:lnTo>
                  <a:cubicBezTo>
                    <a:pt x="80361" y="2768600"/>
                    <a:pt x="0" y="2688463"/>
                    <a:pt x="0" y="2589657"/>
                  </a:cubicBezTo>
                  <a:lnTo>
                    <a:pt x="0" y="178943"/>
                  </a:lnTo>
                  <a:lnTo>
                    <a:pt x="6348" y="178943"/>
                  </a:lnTo>
                  <a:lnTo>
                    <a:pt x="0" y="178943"/>
                  </a:lnTo>
                  <a:moveTo>
                    <a:pt x="12695" y="178943"/>
                  </a:moveTo>
                  <a:lnTo>
                    <a:pt x="12695" y="2589657"/>
                  </a:lnTo>
                  <a:lnTo>
                    <a:pt x="6348" y="2589657"/>
                  </a:lnTo>
                  <a:lnTo>
                    <a:pt x="12695" y="2589657"/>
                  </a:lnTo>
                  <a:cubicBezTo>
                    <a:pt x="12695" y="2681478"/>
                    <a:pt x="87343" y="2755900"/>
                    <a:pt x="179511" y="2755900"/>
                  </a:cubicBezTo>
                  <a:lnTo>
                    <a:pt x="10192515" y="2755900"/>
                  </a:lnTo>
                  <a:cubicBezTo>
                    <a:pt x="10284683" y="2755900"/>
                    <a:pt x="10359331" y="2681478"/>
                    <a:pt x="10359331" y="2589657"/>
                  </a:cubicBezTo>
                  <a:lnTo>
                    <a:pt x="10359331" y="178943"/>
                  </a:lnTo>
                  <a:cubicBezTo>
                    <a:pt x="10359331" y="87122"/>
                    <a:pt x="10284683" y="12700"/>
                    <a:pt x="10192515" y="12700"/>
                  </a:cubicBezTo>
                  <a:lnTo>
                    <a:pt x="179511" y="12700"/>
                  </a:lnTo>
                  <a:lnTo>
                    <a:pt x="179511" y="6350"/>
                  </a:lnTo>
                  <a:lnTo>
                    <a:pt x="179511" y="12700"/>
                  </a:lnTo>
                  <a:cubicBezTo>
                    <a:pt x="87343" y="12700"/>
                    <a:pt x="12695" y="87122"/>
                    <a:pt x="12695" y="178943"/>
                  </a:cubicBezTo>
                  <a:close/>
                </a:path>
              </a:pathLst>
            </a:custGeom>
            <a:solidFill>
              <a:srgbClr val="E2E0DA"/>
            </a:solidFill>
          </p:spPr>
        </p:sp>
      </p:grpSp>
      <p:grpSp>
        <p:nvGrpSpPr>
          <p:cNvPr id="44" name="Group 44"/>
          <p:cNvGrpSpPr/>
          <p:nvPr/>
        </p:nvGrpSpPr>
        <p:grpSpPr>
          <a:xfrm>
            <a:off x="1413368" y="8093884"/>
            <a:ext cx="638518" cy="553212"/>
            <a:chOff x="0" y="0"/>
            <a:chExt cx="850900" cy="850901"/>
          </a:xfrm>
        </p:grpSpPr>
        <p:sp>
          <p:nvSpPr>
            <p:cNvPr id="45" name="Freeform 45"/>
            <p:cNvSpPr/>
            <p:nvPr/>
          </p:nvSpPr>
          <p:spPr>
            <a:xfrm>
              <a:off x="0" y="0"/>
              <a:ext cx="850900" cy="850901"/>
            </a:xfrm>
            <a:custGeom>
              <a:avLst/>
              <a:gdLst/>
              <a:ahLst/>
              <a:cxnLst/>
              <a:rect l="l" t="t" r="r" b="b"/>
              <a:pathLst>
                <a:path w="850900" h="850901">
                  <a:moveTo>
                    <a:pt x="0" y="425451"/>
                  </a:moveTo>
                  <a:cubicBezTo>
                    <a:pt x="0" y="190500"/>
                    <a:pt x="190500" y="0"/>
                    <a:pt x="425450" y="0"/>
                  </a:cubicBezTo>
                  <a:cubicBezTo>
                    <a:pt x="660400" y="0"/>
                    <a:pt x="850900" y="190500"/>
                    <a:pt x="850900" y="425451"/>
                  </a:cubicBezTo>
                  <a:cubicBezTo>
                    <a:pt x="850900" y="660401"/>
                    <a:pt x="660400" y="850901"/>
                    <a:pt x="425450" y="850901"/>
                  </a:cubicBezTo>
                  <a:cubicBezTo>
                    <a:pt x="190500" y="850901"/>
                    <a:pt x="0" y="660401"/>
                    <a:pt x="0" y="425451"/>
                  </a:cubicBezTo>
                  <a:close/>
                </a:path>
              </a:pathLst>
            </a:custGeom>
            <a:solidFill>
              <a:srgbClr val="C4583B">
                <a:alpha val="784"/>
              </a:srgbClr>
            </a:solidFill>
          </p:spPr>
        </p:sp>
        <p:sp>
          <p:nvSpPr>
            <p:cNvPr id="46" name="TextBox 46"/>
            <p:cNvSpPr txBox="1"/>
            <p:nvPr/>
          </p:nvSpPr>
          <p:spPr>
            <a:xfrm>
              <a:off x="0" y="-95250"/>
              <a:ext cx="850900" cy="946151"/>
            </a:xfrm>
            <a:prstGeom prst="rect">
              <a:avLst/>
            </a:prstGeom>
          </p:spPr>
          <p:txBody>
            <a:bodyPr lIns="50800" tIns="50800" rIns="50800" bIns="50800" rtlCol="0" anchor="ctr"/>
            <a:lstStyle/>
            <a:p>
              <a:pPr algn="ctr">
                <a:lnSpc>
                  <a:spcPts val="3888"/>
                </a:lnSpc>
              </a:pPr>
              <a:r>
                <a:rPr lang="en-US" sz="2400">
                  <a:solidFill>
                    <a:srgbClr val="C45D3A"/>
                  </a:solidFill>
                  <a:latin typeface="Arial" panose="020B0604020202020204" pitchFamily="34" charset="0"/>
                  <a:ea typeface="DM Serif Display"/>
                  <a:cs typeface="Arial" panose="020B0604020202020204" pitchFamily="34" charset="0"/>
                  <a:sym typeface="DM Serif Display"/>
                </a:rPr>
                <a:t>03</a:t>
              </a:r>
            </a:p>
          </p:txBody>
        </p:sp>
      </p:grpSp>
      <p:sp>
        <p:nvSpPr>
          <p:cNvPr id="50" name="TextBox 50"/>
          <p:cNvSpPr txBox="1"/>
          <p:nvPr/>
        </p:nvSpPr>
        <p:spPr>
          <a:xfrm>
            <a:off x="2328403" y="7701214"/>
            <a:ext cx="6223167" cy="445122"/>
          </a:xfrm>
          <a:prstGeom prst="rect">
            <a:avLst/>
          </a:prstGeom>
        </p:spPr>
        <p:txBody>
          <a:bodyPr lIns="0" tIns="0" rIns="0" bIns="0" rtlCol="0" anchor="t">
            <a:spAutoFit/>
          </a:bodyPr>
          <a:lstStyle/>
          <a:p>
            <a:pPr algn="l">
              <a:lnSpc>
                <a:spcPts val="3888"/>
              </a:lnSpc>
            </a:pPr>
            <a:r>
              <a:rPr lang="en-US" sz="2400" b="1" dirty="0">
                <a:solidFill>
                  <a:srgbClr val="1E293B"/>
                </a:solidFill>
                <a:latin typeface="Arial" panose="020B0604020202020204" pitchFamily="34" charset="0"/>
                <a:ea typeface="Source Sans 3 Bold"/>
                <a:cs typeface="Arial" panose="020B0604020202020204" pitchFamily="34" charset="0"/>
                <a:sym typeface="Source Sans 3 Bold"/>
              </a:rPr>
              <a:t>Improve Profit Margins</a:t>
            </a:r>
          </a:p>
        </p:txBody>
      </p:sp>
      <p:sp>
        <p:nvSpPr>
          <p:cNvPr id="52" name="TextBox 52"/>
          <p:cNvSpPr txBox="1"/>
          <p:nvPr/>
        </p:nvSpPr>
        <p:spPr>
          <a:xfrm>
            <a:off x="2328403" y="8124613"/>
            <a:ext cx="6223167" cy="1222194"/>
          </a:xfrm>
          <a:prstGeom prst="rect">
            <a:avLst/>
          </a:prstGeom>
        </p:spPr>
        <p:txBody>
          <a:bodyPr lIns="0" tIns="0" rIns="0" bIns="0" rtlCol="0" anchor="t">
            <a:spAutoFit/>
          </a:bodyPr>
          <a:lstStyle/>
          <a:p>
            <a:pPr algn="l">
              <a:lnSpc>
                <a:spcPts val="3275"/>
              </a:lnSpc>
            </a:pPr>
            <a:r>
              <a:rPr lang="en-US" sz="2000" dirty="0">
                <a:latin typeface="Arial" panose="020B0604020202020204" pitchFamily="34" charset="0"/>
                <a:ea typeface="Source Sans 3"/>
                <a:cs typeface="Arial" panose="020B0604020202020204" pitchFamily="34" charset="0"/>
                <a:sym typeface="Source Sans 3"/>
              </a:rPr>
              <a:t>Provide data-backed suggestions to cut costs and increase net profit without risking shortages or overstocking.</a:t>
            </a:r>
          </a:p>
        </p:txBody>
      </p:sp>
      <p:sp>
        <p:nvSpPr>
          <p:cNvPr id="53" name="TextBox 53"/>
          <p:cNvSpPr txBox="1"/>
          <p:nvPr/>
        </p:nvSpPr>
        <p:spPr>
          <a:xfrm>
            <a:off x="10648874" y="8124613"/>
            <a:ext cx="6219825" cy="799001"/>
          </a:xfrm>
          <a:prstGeom prst="rect">
            <a:avLst/>
          </a:prstGeom>
        </p:spPr>
        <p:txBody>
          <a:bodyPr lIns="0" tIns="0" rIns="0" bIns="0" rtlCol="0" anchor="t">
            <a:spAutoFit/>
          </a:bodyPr>
          <a:lstStyle/>
          <a:p>
            <a:pPr algn="l">
              <a:lnSpc>
                <a:spcPts val="3275"/>
              </a:lnSpc>
            </a:pPr>
            <a:r>
              <a:rPr lang="en-US" sz="2000" dirty="0">
                <a:latin typeface="Arial" panose="020B0604020202020204" pitchFamily="34" charset="0"/>
                <a:ea typeface="Source Sans 3"/>
                <a:cs typeface="Arial" panose="020B0604020202020204" pitchFamily="34" charset="0"/>
                <a:sym typeface="Source Sans 3"/>
              </a:rPr>
              <a:t>Shift the owner's decision-making from intuition to actual sales and expense trends.</a:t>
            </a:r>
          </a:p>
        </p:txBody>
      </p:sp>
      <p:sp>
        <p:nvSpPr>
          <p:cNvPr id="59" name="TextBox 58">
            <a:extLst>
              <a:ext uri="{FF2B5EF4-FFF2-40B4-BE49-F238E27FC236}">
                <a16:creationId xmlns:a16="http://schemas.microsoft.com/office/drawing/2014/main" id="{17AA38F9-EDBC-F179-D63A-B369BC2ABB93}"/>
              </a:ext>
            </a:extLst>
          </p:cNvPr>
          <p:cNvSpPr txBox="1"/>
          <p:nvPr/>
        </p:nvSpPr>
        <p:spPr>
          <a:xfrm>
            <a:off x="-76200" y="2064139"/>
            <a:ext cx="18364200" cy="523220"/>
          </a:xfrm>
          <a:prstGeom prst="rect">
            <a:avLst/>
          </a:prstGeom>
          <a:noFill/>
        </p:spPr>
        <p:txBody>
          <a:bodyPr wrap="square">
            <a:spAutoFit/>
          </a:bodyPr>
          <a:lstStyle/>
          <a:p>
            <a:pPr algn="ctr"/>
            <a:r>
              <a:rPr lang="en-US" sz="2800" dirty="0">
                <a:solidFill>
                  <a:srgbClr val="1E293B"/>
                </a:solidFill>
                <a:latin typeface="Arial" panose="020B0604020202020204" pitchFamily="34" charset="0"/>
                <a:ea typeface="DM Serif Display"/>
                <a:cs typeface="Arial" panose="020B0604020202020204" pitchFamily="34" charset="0"/>
                <a:sym typeface="DM Serif Display"/>
              </a:rPr>
              <a:t>Problem Statements</a:t>
            </a:r>
            <a:endParaRPr lang="en-IN" sz="2800" dirty="0">
              <a:latin typeface="Arial" panose="020B0604020202020204" pitchFamily="34" charset="0"/>
              <a:cs typeface="Arial" panose="020B0604020202020204" pitchFamily="34" charset="0"/>
            </a:endParaRPr>
          </a:p>
        </p:txBody>
      </p:sp>
      <p:sp>
        <p:nvSpPr>
          <p:cNvPr id="63" name="TextBox 62">
            <a:extLst>
              <a:ext uri="{FF2B5EF4-FFF2-40B4-BE49-F238E27FC236}">
                <a16:creationId xmlns:a16="http://schemas.microsoft.com/office/drawing/2014/main" id="{1F6F08A0-0932-AAEE-316C-4E2E0E50BB26}"/>
              </a:ext>
            </a:extLst>
          </p:cNvPr>
          <p:cNvSpPr txBox="1"/>
          <p:nvPr/>
        </p:nvSpPr>
        <p:spPr>
          <a:xfrm>
            <a:off x="0" y="4712202"/>
            <a:ext cx="18364200" cy="523220"/>
          </a:xfrm>
          <a:prstGeom prst="rect">
            <a:avLst/>
          </a:prstGeom>
          <a:noFill/>
        </p:spPr>
        <p:txBody>
          <a:bodyPr wrap="square">
            <a:spAutoFit/>
          </a:bodyPr>
          <a:lstStyle/>
          <a:p>
            <a:pPr algn="ctr"/>
            <a:r>
              <a:rPr lang="en-US" sz="2800" dirty="0">
                <a:solidFill>
                  <a:srgbClr val="1E293B"/>
                </a:solidFill>
                <a:latin typeface="Arial" panose="020B0604020202020204" pitchFamily="34" charset="0"/>
                <a:ea typeface="DM Serif Display"/>
                <a:cs typeface="Arial" panose="020B0604020202020204" pitchFamily="34" charset="0"/>
                <a:sym typeface="DM Serif Display"/>
              </a:rPr>
              <a:t>Objectives</a:t>
            </a:r>
            <a:endParaRPr lang="en-IN" sz="28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092994" y="2459831"/>
            <a:ext cx="6153150" cy="2057400"/>
            <a:chOff x="0" y="0"/>
            <a:chExt cx="8204200" cy="2743200"/>
          </a:xfrm>
        </p:grpSpPr>
        <p:sp>
          <p:nvSpPr>
            <p:cNvPr id="5" name="Freeform 5"/>
            <p:cNvSpPr/>
            <p:nvPr/>
          </p:nvSpPr>
          <p:spPr>
            <a:xfrm>
              <a:off x="6350" y="6350"/>
              <a:ext cx="8191500" cy="2730500"/>
            </a:xfrm>
            <a:custGeom>
              <a:avLst/>
              <a:gdLst/>
              <a:ahLst/>
              <a:cxnLst/>
              <a:rect l="l" t="t" r="r" b="b"/>
              <a:pathLst>
                <a:path w="8191500" h="2730500">
                  <a:moveTo>
                    <a:pt x="0" y="174244"/>
                  </a:moveTo>
                  <a:cubicBezTo>
                    <a:pt x="0" y="77978"/>
                    <a:pt x="78232" y="0"/>
                    <a:pt x="174752" y="0"/>
                  </a:cubicBezTo>
                  <a:lnTo>
                    <a:pt x="8016748" y="0"/>
                  </a:lnTo>
                  <a:cubicBezTo>
                    <a:pt x="8113268" y="0"/>
                    <a:pt x="8191500" y="77978"/>
                    <a:pt x="8191500" y="174244"/>
                  </a:cubicBezTo>
                  <a:lnTo>
                    <a:pt x="8191500" y="2556256"/>
                  </a:lnTo>
                  <a:cubicBezTo>
                    <a:pt x="8191500" y="2652522"/>
                    <a:pt x="8113268" y="2730500"/>
                    <a:pt x="8016748" y="2730500"/>
                  </a:cubicBezTo>
                  <a:lnTo>
                    <a:pt x="174752" y="2730500"/>
                  </a:lnTo>
                  <a:cubicBezTo>
                    <a:pt x="78232" y="2730500"/>
                    <a:pt x="0" y="2652522"/>
                    <a:pt x="0" y="2556256"/>
                  </a:cubicBezTo>
                  <a:close/>
                </a:path>
              </a:pathLst>
            </a:custGeom>
            <a:solidFill>
              <a:srgbClr val="FFFFFF"/>
            </a:solidFill>
          </p:spPr>
        </p:sp>
        <p:sp>
          <p:nvSpPr>
            <p:cNvPr id="6" name="Freeform 6"/>
            <p:cNvSpPr/>
            <p:nvPr/>
          </p:nvSpPr>
          <p:spPr>
            <a:xfrm>
              <a:off x="0" y="0"/>
              <a:ext cx="8204200" cy="2743200"/>
            </a:xfrm>
            <a:custGeom>
              <a:avLst/>
              <a:gdLst/>
              <a:ahLst/>
              <a:cxnLst/>
              <a:rect l="l" t="t" r="r" b="b"/>
              <a:pathLst>
                <a:path w="8204200" h="2743200">
                  <a:moveTo>
                    <a:pt x="0" y="180594"/>
                  </a:moveTo>
                  <a:cubicBezTo>
                    <a:pt x="0" y="80772"/>
                    <a:pt x="81153" y="0"/>
                    <a:pt x="181102" y="0"/>
                  </a:cubicBezTo>
                  <a:lnTo>
                    <a:pt x="8023098" y="0"/>
                  </a:lnTo>
                  <a:lnTo>
                    <a:pt x="8023098" y="6350"/>
                  </a:lnTo>
                  <a:lnTo>
                    <a:pt x="8023098" y="0"/>
                  </a:lnTo>
                  <a:cubicBezTo>
                    <a:pt x="8123047" y="0"/>
                    <a:pt x="8204200" y="80772"/>
                    <a:pt x="8204200" y="180594"/>
                  </a:cubicBezTo>
                  <a:lnTo>
                    <a:pt x="8197850" y="180594"/>
                  </a:lnTo>
                  <a:lnTo>
                    <a:pt x="8204200" y="180594"/>
                  </a:lnTo>
                  <a:lnTo>
                    <a:pt x="8204200" y="2562606"/>
                  </a:lnTo>
                  <a:lnTo>
                    <a:pt x="8197850" y="2562606"/>
                  </a:lnTo>
                  <a:lnTo>
                    <a:pt x="8204200" y="2562606"/>
                  </a:lnTo>
                  <a:cubicBezTo>
                    <a:pt x="8204200" y="2662301"/>
                    <a:pt x="8123047" y="2743200"/>
                    <a:pt x="8023098" y="2743200"/>
                  </a:cubicBezTo>
                  <a:lnTo>
                    <a:pt x="8023098" y="2736850"/>
                  </a:lnTo>
                  <a:lnTo>
                    <a:pt x="8023098" y="2743200"/>
                  </a:lnTo>
                  <a:lnTo>
                    <a:pt x="181102" y="2743200"/>
                  </a:lnTo>
                  <a:lnTo>
                    <a:pt x="181102" y="2736850"/>
                  </a:lnTo>
                  <a:lnTo>
                    <a:pt x="181102" y="2743200"/>
                  </a:lnTo>
                  <a:cubicBezTo>
                    <a:pt x="81153" y="2743200"/>
                    <a:pt x="0" y="2662428"/>
                    <a:pt x="0" y="2562606"/>
                  </a:cubicBezTo>
                  <a:lnTo>
                    <a:pt x="0" y="180594"/>
                  </a:lnTo>
                  <a:lnTo>
                    <a:pt x="6350" y="180594"/>
                  </a:lnTo>
                  <a:lnTo>
                    <a:pt x="0" y="180594"/>
                  </a:lnTo>
                  <a:moveTo>
                    <a:pt x="12700" y="180594"/>
                  </a:moveTo>
                  <a:lnTo>
                    <a:pt x="12700" y="2562606"/>
                  </a:lnTo>
                  <a:lnTo>
                    <a:pt x="6350" y="2562606"/>
                  </a:lnTo>
                  <a:lnTo>
                    <a:pt x="12700" y="2562606"/>
                  </a:lnTo>
                  <a:cubicBezTo>
                    <a:pt x="12700" y="2655316"/>
                    <a:pt x="88138" y="2730500"/>
                    <a:pt x="181102" y="2730500"/>
                  </a:cubicBezTo>
                  <a:lnTo>
                    <a:pt x="8023098" y="2730500"/>
                  </a:lnTo>
                  <a:cubicBezTo>
                    <a:pt x="8116062" y="2730500"/>
                    <a:pt x="8191500" y="2655316"/>
                    <a:pt x="8191500" y="2562606"/>
                  </a:cubicBezTo>
                  <a:lnTo>
                    <a:pt x="8191500" y="180594"/>
                  </a:lnTo>
                  <a:cubicBezTo>
                    <a:pt x="8191500" y="87884"/>
                    <a:pt x="8116189" y="12700"/>
                    <a:pt x="8023098" y="12700"/>
                  </a:cubicBezTo>
                  <a:lnTo>
                    <a:pt x="181102" y="12700"/>
                  </a:lnTo>
                  <a:lnTo>
                    <a:pt x="181102" y="6350"/>
                  </a:lnTo>
                  <a:lnTo>
                    <a:pt x="181102" y="12700"/>
                  </a:lnTo>
                  <a:cubicBezTo>
                    <a:pt x="88138" y="12700"/>
                    <a:pt x="12700" y="87884"/>
                    <a:pt x="12700" y="180594"/>
                  </a:cubicBezTo>
                  <a:close/>
                </a:path>
              </a:pathLst>
            </a:custGeom>
            <a:solidFill>
              <a:srgbClr val="E2E0DA"/>
            </a:solidFill>
          </p:spPr>
        </p:sp>
      </p:grpSp>
      <p:grpSp>
        <p:nvGrpSpPr>
          <p:cNvPr id="7" name="Group 7"/>
          <p:cNvGrpSpPr/>
          <p:nvPr/>
        </p:nvGrpSpPr>
        <p:grpSpPr>
          <a:xfrm>
            <a:off x="1092994" y="4814439"/>
            <a:ext cx="6153150" cy="2762761"/>
            <a:chOff x="0" y="0"/>
            <a:chExt cx="8204200" cy="2743200"/>
          </a:xfrm>
        </p:grpSpPr>
        <p:sp>
          <p:nvSpPr>
            <p:cNvPr id="8" name="Freeform 8"/>
            <p:cNvSpPr/>
            <p:nvPr/>
          </p:nvSpPr>
          <p:spPr>
            <a:xfrm>
              <a:off x="6350" y="6350"/>
              <a:ext cx="8191500" cy="2730500"/>
            </a:xfrm>
            <a:custGeom>
              <a:avLst/>
              <a:gdLst/>
              <a:ahLst/>
              <a:cxnLst/>
              <a:rect l="l" t="t" r="r" b="b"/>
              <a:pathLst>
                <a:path w="8191500" h="2730500">
                  <a:moveTo>
                    <a:pt x="0" y="174244"/>
                  </a:moveTo>
                  <a:cubicBezTo>
                    <a:pt x="0" y="77978"/>
                    <a:pt x="78232" y="0"/>
                    <a:pt x="174752" y="0"/>
                  </a:cubicBezTo>
                  <a:lnTo>
                    <a:pt x="8016748" y="0"/>
                  </a:lnTo>
                  <a:cubicBezTo>
                    <a:pt x="8113268" y="0"/>
                    <a:pt x="8191500" y="77978"/>
                    <a:pt x="8191500" y="174244"/>
                  </a:cubicBezTo>
                  <a:lnTo>
                    <a:pt x="8191500" y="2556256"/>
                  </a:lnTo>
                  <a:cubicBezTo>
                    <a:pt x="8191500" y="2652522"/>
                    <a:pt x="8113268" y="2730500"/>
                    <a:pt x="8016748" y="2730500"/>
                  </a:cubicBezTo>
                  <a:lnTo>
                    <a:pt x="174752" y="2730500"/>
                  </a:lnTo>
                  <a:cubicBezTo>
                    <a:pt x="78232" y="2730500"/>
                    <a:pt x="0" y="2652522"/>
                    <a:pt x="0" y="2556256"/>
                  </a:cubicBezTo>
                  <a:close/>
                </a:path>
              </a:pathLst>
            </a:custGeom>
            <a:solidFill>
              <a:srgbClr val="FFFFFF"/>
            </a:solidFill>
          </p:spPr>
        </p:sp>
        <p:sp>
          <p:nvSpPr>
            <p:cNvPr id="9" name="Freeform 9"/>
            <p:cNvSpPr/>
            <p:nvPr/>
          </p:nvSpPr>
          <p:spPr>
            <a:xfrm>
              <a:off x="0" y="0"/>
              <a:ext cx="8204200" cy="2743200"/>
            </a:xfrm>
            <a:custGeom>
              <a:avLst/>
              <a:gdLst/>
              <a:ahLst/>
              <a:cxnLst/>
              <a:rect l="l" t="t" r="r" b="b"/>
              <a:pathLst>
                <a:path w="8204200" h="2743200">
                  <a:moveTo>
                    <a:pt x="0" y="180594"/>
                  </a:moveTo>
                  <a:cubicBezTo>
                    <a:pt x="0" y="80772"/>
                    <a:pt x="81153" y="0"/>
                    <a:pt x="181102" y="0"/>
                  </a:cubicBezTo>
                  <a:lnTo>
                    <a:pt x="8023098" y="0"/>
                  </a:lnTo>
                  <a:lnTo>
                    <a:pt x="8023098" y="6350"/>
                  </a:lnTo>
                  <a:lnTo>
                    <a:pt x="8023098" y="0"/>
                  </a:lnTo>
                  <a:cubicBezTo>
                    <a:pt x="8123047" y="0"/>
                    <a:pt x="8204200" y="80772"/>
                    <a:pt x="8204200" y="180594"/>
                  </a:cubicBezTo>
                  <a:lnTo>
                    <a:pt x="8197850" y="180594"/>
                  </a:lnTo>
                  <a:lnTo>
                    <a:pt x="8204200" y="180594"/>
                  </a:lnTo>
                  <a:lnTo>
                    <a:pt x="8204200" y="2562606"/>
                  </a:lnTo>
                  <a:lnTo>
                    <a:pt x="8197850" y="2562606"/>
                  </a:lnTo>
                  <a:lnTo>
                    <a:pt x="8204200" y="2562606"/>
                  </a:lnTo>
                  <a:cubicBezTo>
                    <a:pt x="8204200" y="2662301"/>
                    <a:pt x="8123047" y="2743200"/>
                    <a:pt x="8023098" y="2743200"/>
                  </a:cubicBezTo>
                  <a:lnTo>
                    <a:pt x="8023098" y="2736850"/>
                  </a:lnTo>
                  <a:lnTo>
                    <a:pt x="8023098" y="2743200"/>
                  </a:lnTo>
                  <a:lnTo>
                    <a:pt x="181102" y="2743200"/>
                  </a:lnTo>
                  <a:lnTo>
                    <a:pt x="181102" y="2736850"/>
                  </a:lnTo>
                  <a:lnTo>
                    <a:pt x="181102" y="2743200"/>
                  </a:lnTo>
                  <a:cubicBezTo>
                    <a:pt x="81153" y="2743200"/>
                    <a:pt x="0" y="2662428"/>
                    <a:pt x="0" y="2562606"/>
                  </a:cubicBezTo>
                  <a:lnTo>
                    <a:pt x="0" y="180594"/>
                  </a:lnTo>
                  <a:lnTo>
                    <a:pt x="6350" y="180594"/>
                  </a:lnTo>
                  <a:lnTo>
                    <a:pt x="0" y="180594"/>
                  </a:lnTo>
                  <a:moveTo>
                    <a:pt x="12700" y="180594"/>
                  </a:moveTo>
                  <a:lnTo>
                    <a:pt x="12700" y="2562606"/>
                  </a:lnTo>
                  <a:lnTo>
                    <a:pt x="6350" y="2562606"/>
                  </a:lnTo>
                  <a:lnTo>
                    <a:pt x="12700" y="2562606"/>
                  </a:lnTo>
                  <a:cubicBezTo>
                    <a:pt x="12700" y="2655316"/>
                    <a:pt x="88138" y="2730500"/>
                    <a:pt x="181102" y="2730500"/>
                  </a:cubicBezTo>
                  <a:lnTo>
                    <a:pt x="8023098" y="2730500"/>
                  </a:lnTo>
                  <a:cubicBezTo>
                    <a:pt x="8116062" y="2730500"/>
                    <a:pt x="8191500" y="2655316"/>
                    <a:pt x="8191500" y="2562606"/>
                  </a:cubicBezTo>
                  <a:lnTo>
                    <a:pt x="8191500" y="180594"/>
                  </a:lnTo>
                  <a:cubicBezTo>
                    <a:pt x="8191500" y="87884"/>
                    <a:pt x="8116189" y="12700"/>
                    <a:pt x="8023098" y="12700"/>
                  </a:cubicBezTo>
                  <a:lnTo>
                    <a:pt x="181102" y="12700"/>
                  </a:lnTo>
                  <a:lnTo>
                    <a:pt x="181102" y="6350"/>
                  </a:lnTo>
                  <a:lnTo>
                    <a:pt x="181102" y="12700"/>
                  </a:lnTo>
                  <a:cubicBezTo>
                    <a:pt x="88138" y="12700"/>
                    <a:pt x="12700" y="87884"/>
                    <a:pt x="12700" y="180594"/>
                  </a:cubicBezTo>
                  <a:close/>
                </a:path>
              </a:pathLst>
            </a:custGeom>
            <a:solidFill>
              <a:srgbClr val="E2E0DA"/>
            </a:solidFill>
          </p:spPr>
        </p:sp>
      </p:grpSp>
      <p:grpSp>
        <p:nvGrpSpPr>
          <p:cNvPr id="10" name="Group 10"/>
          <p:cNvGrpSpPr/>
          <p:nvPr/>
        </p:nvGrpSpPr>
        <p:grpSpPr>
          <a:xfrm>
            <a:off x="1092994" y="7876065"/>
            <a:ext cx="6153150" cy="2057400"/>
            <a:chOff x="0" y="0"/>
            <a:chExt cx="8204200" cy="2743200"/>
          </a:xfrm>
        </p:grpSpPr>
        <p:sp>
          <p:nvSpPr>
            <p:cNvPr id="11" name="Freeform 11"/>
            <p:cNvSpPr/>
            <p:nvPr/>
          </p:nvSpPr>
          <p:spPr>
            <a:xfrm>
              <a:off x="6350" y="6350"/>
              <a:ext cx="8191500" cy="2730500"/>
            </a:xfrm>
            <a:custGeom>
              <a:avLst/>
              <a:gdLst/>
              <a:ahLst/>
              <a:cxnLst/>
              <a:rect l="l" t="t" r="r" b="b"/>
              <a:pathLst>
                <a:path w="8191500" h="2730500">
                  <a:moveTo>
                    <a:pt x="0" y="174244"/>
                  </a:moveTo>
                  <a:cubicBezTo>
                    <a:pt x="0" y="77978"/>
                    <a:pt x="78232" y="0"/>
                    <a:pt x="174752" y="0"/>
                  </a:cubicBezTo>
                  <a:lnTo>
                    <a:pt x="8016748" y="0"/>
                  </a:lnTo>
                  <a:cubicBezTo>
                    <a:pt x="8113268" y="0"/>
                    <a:pt x="8191500" y="77978"/>
                    <a:pt x="8191500" y="174244"/>
                  </a:cubicBezTo>
                  <a:lnTo>
                    <a:pt x="8191500" y="2556256"/>
                  </a:lnTo>
                  <a:cubicBezTo>
                    <a:pt x="8191500" y="2652522"/>
                    <a:pt x="8113268" y="2730500"/>
                    <a:pt x="8016748" y="2730500"/>
                  </a:cubicBezTo>
                  <a:lnTo>
                    <a:pt x="174752" y="2730500"/>
                  </a:lnTo>
                  <a:cubicBezTo>
                    <a:pt x="78232" y="2730500"/>
                    <a:pt x="0" y="2652522"/>
                    <a:pt x="0" y="2556256"/>
                  </a:cubicBezTo>
                  <a:close/>
                </a:path>
              </a:pathLst>
            </a:custGeom>
            <a:solidFill>
              <a:srgbClr val="FFFFFF"/>
            </a:solidFill>
          </p:spPr>
        </p:sp>
        <p:sp>
          <p:nvSpPr>
            <p:cNvPr id="12" name="Freeform 12"/>
            <p:cNvSpPr/>
            <p:nvPr/>
          </p:nvSpPr>
          <p:spPr>
            <a:xfrm>
              <a:off x="0" y="0"/>
              <a:ext cx="8204200" cy="2743200"/>
            </a:xfrm>
            <a:custGeom>
              <a:avLst/>
              <a:gdLst/>
              <a:ahLst/>
              <a:cxnLst/>
              <a:rect l="l" t="t" r="r" b="b"/>
              <a:pathLst>
                <a:path w="8204200" h="2743200">
                  <a:moveTo>
                    <a:pt x="0" y="180594"/>
                  </a:moveTo>
                  <a:cubicBezTo>
                    <a:pt x="0" y="80772"/>
                    <a:pt x="81153" y="0"/>
                    <a:pt x="181102" y="0"/>
                  </a:cubicBezTo>
                  <a:lnTo>
                    <a:pt x="8023098" y="0"/>
                  </a:lnTo>
                  <a:lnTo>
                    <a:pt x="8023098" y="6350"/>
                  </a:lnTo>
                  <a:lnTo>
                    <a:pt x="8023098" y="0"/>
                  </a:lnTo>
                  <a:cubicBezTo>
                    <a:pt x="8123047" y="0"/>
                    <a:pt x="8204200" y="80772"/>
                    <a:pt x="8204200" y="180594"/>
                  </a:cubicBezTo>
                  <a:lnTo>
                    <a:pt x="8197850" y="180594"/>
                  </a:lnTo>
                  <a:lnTo>
                    <a:pt x="8204200" y="180594"/>
                  </a:lnTo>
                  <a:lnTo>
                    <a:pt x="8204200" y="2562606"/>
                  </a:lnTo>
                  <a:lnTo>
                    <a:pt x="8197850" y="2562606"/>
                  </a:lnTo>
                  <a:lnTo>
                    <a:pt x="8204200" y="2562606"/>
                  </a:lnTo>
                  <a:cubicBezTo>
                    <a:pt x="8204200" y="2662301"/>
                    <a:pt x="8123047" y="2743200"/>
                    <a:pt x="8023098" y="2743200"/>
                  </a:cubicBezTo>
                  <a:lnTo>
                    <a:pt x="8023098" y="2736850"/>
                  </a:lnTo>
                  <a:lnTo>
                    <a:pt x="8023098" y="2743200"/>
                  </a:lnTo>
                  <a:lnTo>
                    <a:pt x="181102" y="2743200"/>
                  </a:lnTo>
                  <a:lnTo>
                    <a:pt x="181102" y="2736850"/>
                  </a:lnTo>
                  <a:lnTo>
                    <a:pt x="181102" y="2743200"/>
                  </a:lnTo>
                  <a:cubicBezTo>
                    <a:pt x="81153" y="2743200"/>
                    <a:pt x="0" y="2662428"/>
                    <a:pt x="0" y="2562606"/>
                  </a:cubicBezTo>
                  <a:lnTo>
                    <a:pt x="0" y="180594"/>
                  </a:lnTo>
                  <a:lnTo>
                    <a:pt x="6350" y="180594"/>
                  </a:lnTo>
                  <a:lnTo>
                    <a:pt x="0" y="180594"/>
                  </a:lnTo>
                  <a:moveTo>
                    <a:pt x="12700" y="180594"/>
                  </a:moveTo>
                  <a:lnTo>
                    <a:pt x="12700" y="2562606"/>
                  </a:lnTo>
                  <a:lnTo>
                    <a:pt x="6350" y="2562606"/>
                  </a:lnTo>
                  <a:lnTo>
                    <a:pt x="12700" y="2562606"/>
                  </a:lnTo>
                  <a:cubicBezTo>
                    <a:pt x="12700" y="2655316"/>
                    <a:pt x="88138" y="2730500"/>
                    <a:pt x="181102" y="2730500"/>
                  </a:cubicBezTo>
                  <a:lnTo>
                    <a:pt x="8023098" y="2730500"/>
                  </a:lnTo>
                  <a:cubicBezTo>
                    <a:pt x="8116062" y="2730500"/>
                    <a:pt x="8191500" y="2655316"/>
                    <a:pt x="8191500" y="2562606"/>
                  </a:cubicBezTo>
                  <a:lnTo>
                    <a:pt x="8191500" y="180594"/>
                  </a:lnTo>
                  <a:cubicBezTo>
                    <a:pt x="8191500" y="87884"/>
                    <a:pt x="8116189" y="12700"/>
                    <a:pt x="8023098" y="12700"/>
                  </a:cubicBezTo>
                  <a:lnTo>
                    <a:pt x="181102" y="12700"/>
                  </a:lnTo>
                  <a:lnTo>
                    <a:pt x="181102" y="6350"/>
                  </a:lnTo>
                  <a:lnTo>
                    <a:pt x="181102" y="12700"/>
                  </a:lnTo>
                  <a:cubicBezTo>
                    <a:pt x="88138" y="12700"/>
                    <a:pt x="12700" y="87884"/>
                    <a:pt x="12700" y="180594"/>
                  </a:cubicBezTo>
                  <a:close/>
                </a:path>
              </a:pathLst>
            </a:custGeom>
            <a:solidFill>
              <a:srgbClr val="E2E0DA"/>
            </a:solidFill>
          </p:spPr>
        </p:sp>
      </p:grpSp>
      <p:sp>
        <p:nvSpPr>
          <p:cNvPr id="14" name="Freeform 14"/>
          <p:cNvSpPr/>
          <p:nvPr/>
        </p:nvSpPr>
        <p:spPr>
          <a:xfrm>
            <a:off x="14531327" y="2959829"/>
            <a:ext cx="3375673" cy="5384072"/>
          </a:xfrm>
          <a:custGeom>
            <a:avLst/>
            <a:gdLst/>
            <a:ahLst/>
            <a:cxnLst/>
            <a:rect l="l" t="t" r="r" b="b"/>
            <a:pathLst>
              <a:path w="2880373" h="4100174">
                <a:moveTo>
                  <a:pt x="0" y="0"/>
                </a:moveTo>
                <a:lnTo>
                  <a:pt x="2880373" y="0"/>
                </a:lnTo>
                <a:lnTo>
                  <a:pt x="2880373" y="4100175"/>
                </a:lnTo>
                <a:lnTo>
                  <a:pt x="0" y="4100175"/>
                </a:lnTo>
                <a:lnTo>
                  <a:pt x="0" y="0"/>
                </a:lnTo>
                <a:close/>
              </a:path>
            </a:pathLst>
          </a:custGeom>
          <a:blipFill>
            <a:blip r:embed="rId2"/>
            <a:stretch>
              <a:fillRect/>
            </a:stretch>
          </a:blipFill>
        </p:spPr>
      </p:sp>
      <p:sp>
        <p:nvSpPr>
          <p:cNvPr id="15" name="TextBox 15"/>
          <p:cNvSpPr txBox="1"/>
          <p:nvPr/>
        </p:nvSpPr>
        <p:spPr>
          <a:xfrm>
            <a:off x="1095375" y="557955"/>
            <a:ext cx="16097250" cy="296748"/>
          </a:xfrm>
          <a:prstGeom prst="rect">
            <a:avLst/>
          </a:prstGeom>
        </p:spPr>
        <p:txBody>
          <a:bodyPr lIns="0" tIns="0" rIns="0" bIns="0" rtlCol="0" anchor="t">
            <a:spAutoFit/>
          </a:bodyPr>
          <a:lstStyle/>
          <a:p>
            <a:pPr algn="l">
              <a:lnSpc>
                <a:spcPts val="2592"/>
              </a:lnSpc>
            </a:pPr>
            <a:r>
              <a:rPr lang="en-US" sz="1600" b="1">
                <a:solidFill>
                  <a:srgbClr val="C45D3A"/>
                </a:solidFill>
                <a:latin typeface="Arial" panose="020B0604020202020204" pitchFamily="34" charset="0"/>
                <a:ea typeface="Source Sans 3 Bold"/>
                <a:cs typeface="Arial" panose="020B0604020202020204" pitchFamily="34" charset="0"/>
                <a:sym typeface="Source Sans 3 Bold"/>
              </a:rPr>
              <a:t>DATASET OVERVIEW</a:t>
            </a:r>
          </a:p>
        </p:txBody>
      </p:sp>
      <p:sp>
        <p:nvSpPr>
          <p:cNvPr id="16" name="TextBox 16"/>
          <p:cNvSpPr txBox="1"/>
          <p:nvPr/>
        </p:nvSpPr>
        <p:spPr>
          <a:xfrm>
            <a:off x="1095375" y="1170603"/>
            <a:ext cx="16097250" cy="807913"/>
          </a:xfrm>
          <a:prstGeom prst="rect">
            <a:avLst/>
          </a:prstGeom>
        </p:spPr>
        <p:txBody>
          <a:bodyPr lIns="0" tIns="0" rIns="0" bIns="0" rtlCol="0" anchor="t">
            <a:spAutoFit/>
          </a:bodyPr>
          <a:lstStyle/>
          <a:p>
            <a:pPr algn="l">
              <a:lnSpc>
                <a:spcPts val="6292"/>
              </a:lnSpc>
            </a:pPr>
            <a:r>
              <a:rPr lang="en-US" sz="5400">
                <a:solidFill>
                  <a:srgbClr val="1E293B"/>
                </a:solidFill>
                <a:latin typeface="Arial" panose="020B0604020202020204" pitchFamily="34" charset="0"/>
                <a:ea typeface="DM Serif Display"/>
                <a:cs typeface="Arial" panose="020B0604020202020204" pitchFamily="34" charset="0"/>
                <a:sym typeface="DM Serif Display"/>
              </a:rPr>
              <a:t>About the Data</a:t>
            </a:r>
          </a:p>
        </p:txBody>
      </p:sp>
      <p:sp>
        <p:nvSpPr>
          <p:cNvPr id="17" name="TextBox 17"/>
          <p:cNvSpPr txBox="1"/>
          <p:nvPr/>
        </p:nvSpPr>
        <p:spPr>
          <a:xfrm>
            <a:off x="1416844" y="2718864"/>
            <a:ext cx="5505450" cy="321883"/>
          </a:xfrm>
          <a:prstGeom prst="rect">
            <a:avLst/>
          </a:prstGeom>
        </p:spPr>
        <p:txBody>
          <a:bodyPr lIns="0" tIns="0" rIns="0" bIns="0" rtlCol="0" anchor="t">
            <a:spAutoFit/>
          </a:bodyPr>
          <a:lstStyle/>
          <a:p>
            <a:pPr algn="l">
              <a:lnSpc>
                <a:spcPts val="2808"/>
              </a:lnSpc>
            </a:pPr>
            <a:r>
              <a:rPr lang="en-US" sz="1800" b="1">
                <a:solidFill>
                  <a:srgbClr val="64748B"/>
                </a:solidFill>
                <a:latin typeface="Arial" panose="020B0604020202020204" pitchFamily="34" charset="0"/>
                <a:ea typeface="Source Sans 3 Bold"/>
                <a:cs typeface="Arial" panose="020B0604020202020204" pitchFamily="34" charset="0"/>
                <a:sym typeface="Source Sans 3 Bold"/>
              </a:rPr>
              <a:t>SOURCE</a:t>
            </a:r>
          </a:p>
        </p:txBody>
      </p:sp>
      <p:sp>
        <p:nvSpPr>
          <p:cNvPr id="18" name="TextBox 18"/>
          <p:cNvSpPr txBox="1"/>
          <p:nvPr/>
        </p:nvSpPr>
        <p:spPr>
          <a:xfrm>
            <a:off x="1416844" y="3137144"/>
            <a:ext cx="5505450" cy="909223"/>
          </a:xfrm>
          <a:prstGeom prst="rect">
            <a:avLst/>
          </a:prstGeom>
        </p:spPr>
        <p:txBody>
          <a:bodyPr lIns="0" tIns="0" rIns="0" bIns="0" rtlCol="0" anchor="t">
            <a:spAutoFit/>
          </a:bodyPr>
          <a:lstStyle/>
          <a:p>
            <a:pPr>
              <a:lnSpc>
                <a:spcPts val="3744"/>
              </a:lnSpc>
            </a:pPr>
            <a:r>
              <a:rPr lang="en-US" sz="2400" dirty="0">
                <a:latin typeface="Arial" panose="020B0604020202020204" pitchFamily="34" charset="0"/>
                <a:cs typeface="Arial" panose="020B0604020202020204" pitchFamily="34" charset="0"/>
              </a:rPr>
              <a:t>Daily sales and expense records maintained manually by the owner</a:t>
            </a:r>
            <a:endParaRPr lang="en-US" sz="2200" dirty="0">
              <a:solidFill>
                <a:srgbClr val="1E293B"/>
              </a:solidFill>
              <a:latin typeface="Arial" panose="020B0604020202020204" pitchFamily="34" charset="0"/>
              <a:ea typeface="Source Sans 3"/>
              <a:cs typeface="Arial" panose="020B0604020202020204" pitchFamily="34" charset="0"/>
              <a:sym typeface="Source Sans 3"/>
            </a:endParaRPr>
          </a:p>
        </p:txBody>
      </p:sp>
      <p:sp>
        <p:nvSpPr>
          <p:cNvPr id="19" name="TextBox 19"/>
          <p:cNvSpPr txBox="1"/>
          <p:nvPr/>
        </p:nvSpPr>
        <p:spPr>
          <a:xfrm>
            <a:off x="1416844" y="5073482"/>
            <a:ext cx="5505450" cy="321883"/>
          </a:xfrm>
          <a:prstGeom prst="rect">
            <a:avLst/>
          </a:prstGeom>
        </p:spPr>
        <p:txBody>
          <a:bodyPr lIns="0" tIns="0" rIns="0" bIns="0" rtlCol="0" anchor="t">
            <a:spAutoFit/>
          </a:bodyPr>
          <a:lstStyle/>
          <a:p>
            <a:pPr algn="l">
              <a:lnSpc>
                <a:spcPts val="2808"/>
              </a:lnSpc>
            </a:pPr>
            <a:r>
              <a:rPr lang="en-US" sz="1800" b="1">
                <a:solidFill>
                  <a:srgbClr val="64748B"/>
                </a:solidFill>
                <a:latin typeface="Arial" panose="020B0604020202020204" pitchFamily="34" charset="0"/>
                <a:ea typeface="Source Sans 3 Bold"/>
                <a:cs typeface="Arial" panose="020B0604020202020204" pitchFamily="34" charset="0"/>
                <a:sym typeface="Source Sans 3 Bold"/>
              </a:rPr>
              <a:t>COLLECTION METHOD</a:t>
            </a:r>
          </a:p>
        </p:txBody>
      </p:sp>
      <p:sp>
        <p:nvSpPr>
          <p:cNvPr id="20" name="TextBox 20"/>
          <p:cNvSpPr txBox="1"/>
          <p:nvPr/>
        </p:nvSpPr>
        <p:spPr>
          <a:xfrm>
            <a:off x="1416844" y="5491753"/>
            <a:ext cx="5505450" cy="1858201"/>
          </a:xfrm>
          <a:prstGeom prst="rect">
            <a:avLst/>
          </a:prstGeom>
        </p:spPr>
        <p:txBody>
          <a:bodyPr lIns="0" tIns="0" rIns="0" bIns="0" rtlCol="0" anchor="t">
            <a:spAutoFit/>
          </a:bodyPr>
          <a:lstStyle/>
          <a:p>
            <a:pPr>
              <a:lnSpc>
                <a:spcPts val="3744"/>
              </a:lnSpc>
            </a:pPr>
            <a:r>
              <a:rPr lang="en-US" sz="2400" dirty="0">
                <a:latin typeface="Arial" panose="020B0604020202020204" pitchFamily="34" charset="0"/>
                <a:cs typeface="Arial" panose="020B0604020202020204" pitchFamily="34" charset="0"/>
              </a:rPr>
              <a:t>Data was hand-recorded in a bill book by the shop owner each day. I took photos of the bill book and digitized it into a structured Excel sheet.</a:t>
            </a:r>
            <a:endParaRPr lang="en-US" sz="2200" dirty="0">
              <a:solidFill>
                <a:srgbClr val="1E293B"/>
              </a:solidFill>
              <a:latin typeface="Arial" panose="020B0604020202020204" pitchFamily="34" charset="0"/>
              <a:ea typeface="Source Sans 3"/>
              <a:cs typeface="Arial" panose="020B0604020202020204" pitchFamily="34" charset="0"/>
              <a:sym typeface="Source Sans 3"/>
            </a:endParaRPr>
          </a:p>
        </p:txBody>
      </p:sp>
      <p:sp>
        <p:nvSpPr>
          <p:cNvPr id="21" name="TextBox 21"/>
          <p:cNvSpPr txBox="1"/>
          <p:nvPr/>
        </p:nvSpPr>
        <p:spPr>
          <a:xfrm>
            <a:off x="1416844" y="8135107"/>
            <a:ext cx="5505450" cy="321883"/>
          </a:xfrm>
          <a:prstGeom prst="rect">
            <a:avLst/>
          </a:prstGeom>
        </p:spPr>
        <p:txBody>
          <a:bodyPr lIns="0" tIns="0" rIns="0" bIns="0" rtlCol="0" anchor="t">
            <a:spAutoFit/>
          </a:bodyPr>
          <a:lstStyle/>
          <a:p>
            <a:pPr algn="l">
              <a:lnSpc>
                <a:spcPts val="2808"/>
              </a:lnSpc>
            </a:pPr>
            <a:r>
              <a:rPr lang="en-US" sz="1800" b="1">
                <a:solidFill>
                  <a:srgbClr val="64748B"/>
                </a:solidFill>
                <a:latin typeface="Arial" panose="020B0604020202020204" pitchFamily="34" charset="0"/>
                <a:ea typeface="Source Sans 3 Bold"/>
                <a:cs typeface="Arial" panose="020B0604020202020204" pitchFamily="34" charset="0"/>
                <a:sym typeface="Source Sans 3 Bold"/>
              </a:rPr>
              <a:t>TIME PERIOD</a:t>
            </a:r>
          </a:p>
        </p:txBody>
      </p:sp>
      <p:sp>
        <p:nvSpPr>
          <p:cNvPr id="22" name="TextBox 22"/>
          <p:cNvSpPr txBox="1"/>
          <p:nvPr/>
        </p:nvSpPr>
        <p:spPr>
          <a:xfrm>
            <a:off x="1416844" y="8553388"/>
            <a:ext cx="5505450" cy="909223"/>
          </a:xfrm>
          <a:prstGeom prst="rect">
            <a:avLst/>
          </a:prstGeom>
        </p:spPr>
        <p:txBody>
          <a:bodyPr lIns="0" tIns="0" rIns="0" bIns="0" rtlCol="0" anchor="t">
            <a:spAutoFit/>
          </a:bodyPr>
          <a:lstStyle/>
          <a:p>
            <a:pPr>
              <a:lnSpc>
                <a:spcPts val="3744"/>
              </a:lnSpc>
            </a:pPr>
            <a:r>
              <a:rPr lang="en-US" sz="2400" dirty="0">
                <a:latin typeface="Arial" panose="020B0604020202020204" pitchFamily="34" charset="0"/>
                <a:cs typeface="Arial" panose="020B0604020202020204" pitchFamily="34" charset="0"/>
              </a:rPr>
              <a:t>1st February 2025 to 30th June 2025. 150 days of observations.</a:t>
            </a:r>
            <a:endParaRPr lang="en-US" sz="2200" dirty="0">
              <a:solidFill>
                <a:srgbClr val="1E293B"/>
              </a:solidFill>
              <a:latin typeface="Arial" panose="020B0604020202020204" pitchFamily="34" charset="0"/>
              <a:ea typeface="Source Sans 3"/>
              <a:cs typeface="Arial" panose="020B0604020202020204" pitchFamily="34" charset="0"/>
              <a:sym typeface="Source Sans 3"/>
            </a:endParaRPr>
          </a:p>
        </p:txBody>
      </p:sp>
      <p:sp>
        <p:nvSpPr>
          <p:cNvPr id="23" name="TextBox 23"/>
          <p:cNvSpPr txBox="1"/>
          <p:nvPr/>
        </p:nvSpPr>
        <p:spPr>
          <a:xfrm>
            <a:off x="7972054" y="2400824"/>
            <a:ext cx="2253660" cy="321883"/>
          </a:xfrm>
          <a:prstGeom prst="rect">
            <a:avLst/>
          </a:prstGeom>
        </p:spPr>
        <p:txBody>
          <a:bodyPr wrap="square" lIns="0" tIns="0" rIns="0" bIns="0" rtlCol="0" anchor="t">
            <a:spAutoFit/>
          </a:bodyPr>
          <a:lstStyle/>
          <a:p>
            <a:pPr algn="l">
              <a:lnSpc>
                <a:spcPts val="2808"/>
              </a:lnSpc>
            </a:pPr>
            <a:r>
              <a:rPr lang="en-US" sz="1800" b="1" dirty="0">
                <a:solidFill>
                  <a:srgbClr val="64748B"/>
                </a:solidFill>
                <a:latin typeface="Arial" panose="020B0604020202020204" pitchFamily="34" charset="0"/>
                <a:ea typeface="Source Sans 3 Bold"/>
                <a:cs typeface="Arial" panose="020B0604020202020204" pitchFamily="34" charset="0"/>
                <a:sym typeface="Source Sans 3 Bold"/>
              </a:rPr>
              <a:t>DATA COLUMNS</a:t>
            </a:r>
          </a:p>
        </p:txBody>
      </p:sp>
      <p:sp>
        <p:nvSpPr>
          <p:cNvPr id="24" name="TextBox 24"/>
          <p:cNvSpPr txBox="1"/>
          <p:nvPr/>
        </p:nvSpPr>
        <p:spPr>
          <a:xfrm>
            <a:off x="7998558" y="9125885"/>
            <a:ext cx="9220200" cy="296748"/>
          </a:xfrm>
          <a:prstGeom prst="rect">
            <a:avLst/>
          </a:prstGeom>
        </p:spPr>
        <p:txBody>
          <a:bodyPr wrap="square" lIns="0" tIns="0" rIns="0" bIns="0" rtlCol="0" anchor="t">
            <a:spAutoFit/>
          </a:bodyPr>
          <a:lstStyle/>
          <a:p>
            <a:pPr algn="ctr">
              <a:lnSpc>
                <a:spcPts val="2592"/>
              </a:lnSpc>
            </a:pPr>
            <a:r>
              <a:rPr lang="en-US" sz="1600" dirty="0">
                <a:solidFill>
                  <a:srgbClr val="64748B"/>
                </a:solidFill>
                <a:latin typeface="Arial" panose="020B0604020202020204" pitchFamily="34" charset="0"/>
                <a:ea typeface="Source Sans 3"/>
                <a:cs typeface="Arial" panose="020B0604020202020204" pitchFamily="34" charset="0"/>
                <a:sym typeface="Source Sans 3"/>
              </a:rPr>
              <a:t>6 Columns , 150 row, February-June 2025</a:t>
            </a:r>
          </a:p>
        </p:txBody>
      </p:sp>
      <p:sp>
        <p:nvSpPr>
          <p:cNvPr id="25" name="TextBox 25"/>
          <p:cNvSpPr txBox="1"/>
          <p:nvPr/>
        </p:nvSpPr>
        <p:spPr>
          <a:xfrm>
            <a:off x="14531327" y="2400824"/>
            <a:ext cx="2253660" cy="321883"/>
          </a:xfrm>
          <a:prstGeom prst="rect">
            <a:avLst/>
          </a:prstGeom>
        </p:spPr>
        <p:txBody>
          <a:bodyPr wrap="square" lIns="0" tIns="0" rIns="0" bIns="0" rtlCol="0" anchor="t">
            <a:spAutoFit/>
          </a:bodyPr>
          <a:lstStyle/>
          <a:p>
            <a:pPr algn="l">
              <a:lnSpc>
                <a:spcPts val="2808"/>
              </a:lnSpc>
            </a:pPr>
            <a:r>
              <a:rPr lang="en-US" sz="1800" b="1">
                <a:solidFill>
                  <a:srgbClr val="64748B"/>
                </a:solidFill>
                <a:latin typeface="Arial" panose="020B0604020202020204" pitchFamily="34" charset="0"/>
                <a:ea typeface="Source Sans 3 Bold"/>
                <a:cs typeface="Arial" panose="020B0604020202020204" pitchFamily="34" charset="0"/>
                <a:sym typeface="Source Sans 3 Bold"/>
              </a:rPr>
              <a:t>RAW DATA IMAGE</a:t>
            </a:r>
          </a:p>
        </p:txBody>
      </p:sp>
      <p:pic>
        <p:nvPicPr>
          <p:cNvPr id="3" name="Picture 2">
            <a:extLst>
              <a:ext uri="{FF2B5EF4-FFF2-40B4-BE49-F238E27FC236}">
                <a16:creationId xmlns:a16="http://schemas.microsoft.com/office/drawing/2014/main" id="{CE8D06BD-F6E1-7701-7D7F-2CF161F52036}"/>
              </a:ext>
            </a:extLst>
          </p:cNvPr>
          <p:cNvPicPr>
            <a:picLocks noChangeAspect="1"/>
          </p:cNvPicPr>
          <p:nvPr/>
        </p:nvPicPr>
        <p:blipFill>
          <a:blip r:embed="rId3"/>
          <a:stretch>
            <a:fillRect/>
          </a:stretch>
        </p:blipFill>
        <p:spPr>
          <a:xfrm>
            <a:off x="7972054" y="2954859"/>
            <a:ext cx="6282677" cy="53840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95375" y="557955"/>
            <a:ext cx="16097250" cy="296748"/>
          </a:xfrm>
          <a:prstGeom prst="rect">
            <a:avLst/>
          </a:prstGeom>
        </p:spPr>
        <p:txBody>
          <a:bodyPr lIns="0" tIns="0" rIns="0" bIns="0" rtlCol="0" anchor="t">
            <a:spAutoFit/>
          </a:bodyPr>
          <a:lstStyle/>
          <a:p>
            <a:pPr algn="l">
              <a:lnSpc>
                <a:spcPts val="2592"/>
              </a:lnSpc>
            </a:pPr>
            <a:r>
              <a:rPr lang="en-US" sz="1600" b="1">
                <a:solidFill>
                  <a:srgbClr val="C45D3A"/>
                </a:solidFill>
                <a:latin typeface="Arial" panose="020B0604020202020204" pitchFamily="34" charset="0"/>
                <a:ea typeface="Source Sans 3 Bold"/>
                <a:cs typeface="Arial" panose="020B0604020202020204" pitchFamily="34" charset="0"/>
                <a:sym typeface="Source Sans 3 Bold"/>
              </a:rPr>
              <a:t>DATA PREPARATION</a:t>
            </a:r>
          </a:p>
        </p:txBody>
      </p:sp>
      <p:sp>
        <p:nvSpPr>
          <p:cNvPr id="5" name="TextBox 5"/>
          <p:cNvSpPr txBox="1"/>
          <p:nvPr/>
        </p:nvSpPr>
        <p:spPr>
          <a:xfrm>
            <a:off x="1095375" y="1170603"/>
            <a:ext cx="16097250" cy="807913"/>
          </a:xfrm>
          <a:prstGeom prst="rect">
            <a:avLst/>
          </a:prstGeom>
        </p:spPr>
        <p:txBody>
          <a:bodyPr lIns="0" tIns="0" rIns="0" bIns="0" rtlCol="0" anchor="t">
            <a:spAutoFit/>
          </a:bodyPr>
          <a:lstStyle/>
          <a:p>
            <a:pPr algn="l">
              <a:lnSpc>
                <a:spcPts val="6292"/>
              </a:lnSpc>
            </a:pPr>
            <a:r>
              <a:rPr lang="en-US" sz="5400">
                <a:solidFill>
                  <a:srgbClr val="1E293B"/>
                </a:solidFill>
                <a:latin typeface="Arial" panose="020B0604020202020204" pitchFamily="34" charset="0"/>
                <a:ea typeface="DM Serif Display"/>
                <a:cs typeface="Arial" panose="020B0604020202020204" pitchFamily="34" charset="0"/>
                <a:sym typeface="DM Serif Display"/>
              </a:rPr>
              <a:t>Data Cleaning</a:t>
            </a:r>
          </a:p>
        </p:txBody>
      </p:sp>
      <p:sp>
        <p:nvSpPr>
          <p:cNvPr id="2" name="Rectangle: Rounded Corners 1">
            <a:extLst>
              <a:ext uri="{FF2B5EF4-FFF2-40B4-BE49-F238E27FC236}">
                <a16:creationId xmlns:a16="http://schemas.microsoft.com/office/drawing/2014/main" id="{F4D440DD-2D8D-097F-17AA-3EED0E4F4755}"/>
              </a:ext>
            </a:extLst>
          </p:cNvPr>
          <p:cNvSpPr/>
          <p:nvPr/>
        </p:nvSpPr>
        <p:spPr>
          <a:xfrm>
            <a:off x="1095375" y="2294416"/>
            <a:ext cx="16278225" cy="69342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Converted Sales, Expense and Net Profit columns to numeric. Any non-numeric entries were converted to </a:t>
            </a:r>
            <a:r>
              <a:rPr lang="en-US" sz="2800" dirty="0" err="1">
                <a:solidFill>
                  <a:schemeClr val="tx1"/>
                </a:solidFill>
                <a:latin typeface="Arial" panose="020B0604020202020204" pitchFamily="34" charset="0"/>
                <a:cs typeface="Arial" panose="020B0604020202020204" pitchFamily="34" charset="0"/>
              </a:rPr>
              <a:t>NaN</a:t>
            </a:r>
            <a:r>
              <a:rPr lang="en-US" sz="2800" dirty="0">
                <a:solidFill>
                  <a:schemeClr val="tx1"/>
                </a:solidFill>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12 rows had null values in Sales and Expense. Combined with rows where both were recorded as zero, 17 days total were dropped as closure days.</a:t>
            </a:r>
          </a:p>
          <a:p>
            <a:pPr marL="285750" indent="-285750">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Defined an Operating Day as any day where Sales or Expense was greater than zero — this gave 133 usable days out of 150.</a:t>
            </a:r>
          </a:p>
          <a:p>
            <a:pPr marL="285750" indent="-285750">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Comment column had 131 missing entries, it wasn't used for analysis, only to understand outliers like salary and rent spike days.</a:t>
            </a:r>
          </a:p>
          <a:p>
            <a:pPr marL="285750" indent="-285750">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Net Profit was verified as Sales − Expense across all rows and relabeled from "Profit" to "Net Profit" for accuracy.</a:t>
            </a:r>
          </a:p>
          <a:p>
            <a:pPr marL="285750" indent="-285750">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Five expense category columns (Raw Material, Delivery Boy, Worker Salary, Rent, Google Ads) were added from bill book records but they were only partially filled, so aggregate Expense was kept as the primary variable.</a:t>
            </a:r>
            <a:endParaRPr lang="en-IN" sz="2800"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95375" y="557955"/>
            <a:ext cx="16097250" cy="296748"/>
          </a:xfrm>
          <a:prstGeom prst="rect">
            <a:avLst/>
          </a:prstGeom>
        </p:spPr>
        <p:txBody>
          <a:bodyPr lIns="0" tIns="0" rIns="0" bIns="0" rtlCol="0" anchor="t">
            <a:spAutoFit/>
          </a:bodyPr>
          <a:lstStyle/>
          <a:p>
            <a:pPr algn="l">
              <a:lnSpc>
                <a:spcPts val="2592"/>
              </a:lnSpc>
            </a:pPr>
            <a:r>
              <a:rPr lang="en-US" sz="1600" b="1">
                <a:solidFill>
                  <a:srgbClr val="C45D3A"/>
                </a:solidFill>
                <a:latin typeface="Arial" panose="020B0604020202020204" pitchFamily="34" charset="0"/>
                <a:ea typeface="Source Sans 3 Bold"/>
                <a:cs typeface="Arial" panose="020B0604020202020204" pitchFamily="34" charset="0"/>
                <a:sym typeface="Source Sans 3 Bold"/>
              </a:rPr>
              <a:t>SUMMARY MEASURES</a:t>
            </a:r>
          </a:p>
        </p:txBody>
      </p:sp>
      <p:sp>
        <p:nvSpPr>
          <p:cNvPr id="5" name="TextBox 5"/>
          <p:cNvSpPr txBox="1"/>
          <p:nvPr/>
        </p:nvSpPr>
        <p:spPr>
          <a:xfrm>
            <a:off x="1095375" y="1170603"/>
            <a:ext cx="16097250" cy="807913"/>
          </a:xfrm>
          <a:prstGeom prst="rect">
            <a:avLst/>
          </a:prstGeom>
        </p:spPr>
        <p:txBody>
          <a:bodyPr lIns="0" tIns="0" rIns="0" bIns="0" rtlCol="0" anchor="t">
            <a:spAutoFit/>
          </a:bodyPr>
          <a:lstStyle/>
          <a:p>
            <a:pPr algn="l">
              <a:lnSpc>
                <a:spcPts val="6292"/>
              </a:lnSpc>
            </a:pPr>
            <a:r>
              <a:rPr lang="en-US" sz="5400">
                <a:solidFill>
                  <a:srgbClr val="1E293B"/>
                </a:solidFill>
                <a:latin typeface="Arial" panose="020B0604020202020204" pitchFamily="34" charset="0"/>
                <a:ea typeface="DM Serif Display"/>
                <a:cs typeface="Arial" panose="020B0604020202020204" pitchFamily="34" charset="0"/>
                <a:sym typeface="DM Serif Display"/>
              </a:rPr>
              <a:t>Descriptive Statistics</a:t>
            </a:r>
          </a:p>
        </p:txBody>
      </p:sp>
      <p:pic>
        <p:nvPicPr>
          <p:cNvPr id="3" name="Picture 2">
            <a:extLst>
              <a:ext uri="{FF2B5EF4-FFF2-40B4-BE49-F238E27FC236}">
                <a16:creationId xmlns:a16="http://schemas.microsoft.com/office/drawing/2014/main" id="{7D0A6A56-13AA-86BC-4E75-CE2DD7E3FDAB}"/>
              </a:ext>
            </a:extLst>
          </p:cNvPr>
          <p:cNvPicPr>
            <a:picLocks noChangeAspect="1"/>
          </p:cNvPicPr>
          <p:nvPr/>
        </p:nvPicPr>
        <p:blipFill>
          <a:blip r:embed="rId2"/>
          <a:stretch>
            <a:fillRect/>
          </a:stretch>
        </p:blipFill>
        <p:spPr>
          <a:xfrm>
            <a:off x="1095375" y="2476500"/>
            <a:ext cx="6828128" cy="3352800"/>
          </a:xfrm>
          <a:prstGeom prst="rect">
            <a:avLst/>
          </a:prstGeom>
        </p:spPr>
      </p:pic>
      <p:sp>
        <p:nvSpPr>
          <p:cNvPr id="49" name="Rectangle: Rounded Corners 48">
            <a:extLst>
              <a:ext uri="{FF2B5EF4-FFF2-40B4-BE49-F238E27FC236}">
                <a16:creationId xmlns:a16="http://schemas.microsoft.com/office/drawing/2014/main" id="{4B5B71B8-2548-C0D4-CF1E-273EAF2BA627}"/>
              </a:ext>
            </a:extLst>
          </p:cNvPr>
          <p:cNvSpPr/>
          <p:nvPr/>
        </p:nvSpPr>
        <p:spPr>
          <a:xfrm>
            <a:off x="10210800" y="3314700"/>
            <a:ext cx="5943600" cy="16764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Average daily net profit was just ₹39.59 despite average sales of ₹1,490</a:t>
            </a:r>
          </a:p>
          <a:p>
            <a:pPr marL="285750" indent="-285750">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Expense median is ₹370 but the mean is ₹1,451, spike days pull the average up by 4x</a:t>
            </a:r>
            <a:endParaRPr lang="en-IN" dirty="0">
              <a:solidFill>
                <a:schemeClr val="tx1"/>
              </a:solidFill>
              <a:latin typeface="Arial" panose="020B0604020202020204" pitchFamily="34" charset="0"/>
              <a:cs typeface="Arial" panose="020B0604020202020204" pitchFamily="34" charset="0"/>
            </a:endParaRPr>
          </a:p>
        </p:txBody>
      </p:sp>
      <p:pic>
        <p:nvPicPr>
          <p:cNvPr id="53" name="Picture 52">
            <a:extLst>
              <a:ext uri="{FF2B5EF4-FFF2-40B4-BE49-F238E27FC236}">
                <a16:creationId xmlns:a16="http://schemas.microsoft.com/office/drawing/2014/main" id="{8E0EA7EF-58B2-AF61-3866-FF91510BBA0D}"/>
              </a:ext>
            </a:extLst>
          </p:cNvPr>
          <p:cNvPicPr>
            <a:picLocks noChangeAspect="1"/>
          </p:cNvPicPr>
          <p:nvPr/>
        </p:nvPicPr>
        <p:blipFill>
          <a:blip r:embed="rId3"/>
          <a:stretch>
            <a:fillRect/>
          </a:stretch>
        </p:blipFill>
        <p:spPr>
          <a:xfrm>
            <a:off x="1095375" y="7137772"/>
            <a:ext cx="6828128" cy="1163578"/>
          </a:xfrm>
          <a:prstGeom prst="rect">
            <a:avLst/>
          </a:prstGeom>
        </p:spPr>
      </p:pic>
      <p:sp>
        <p:nvSpPr>
          <p:cNvPr id="57" name="Rectangle: Rounded Corners 56">
            <a:extLst>
              <a:ext uri="{FF2B5EF4-FFF2-40B4-BE49-F238E27FC236}">
                <a16:creationId xmlns:a16="http://schemas.microsoft.com/office/drawing/2014/main" id="{2DA8D5C4-A030-5D4A-BB57-9956E700C149}"/>
              </a:ext>
            </a:extLst>
          </p:cNvPr>
          <p:cNvSpPr/>
          <p:nvPr/>
        </p:nvSpPr>
        <p:spPr>
          <a:xfrm>
            <a:off x="9296400" y="6327284"/>
            <a:ext cx="7772400" cy="27845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Sales fluctuate, but within a range that is manageable and somewhat predictable. A CV of 0.64 means the standard deviation is 64% of average sales, which is moderate for a small café with no fixed customer base. Net profit tells a completely different story. A CV of 91.38 means the standard deviation is 91 times the average profit. The reason is simple, the average profit is so thin that even one bad expense day completely distorts it. This gap between sales stability and profit instability is the core finding of the entire analysis.</a:t>
            </a:r>
            <a:endParaRPr lang="en-IN"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95375" y="557955"/>
            <a:ext cx="16097250" cy="296748"/>
          </a:xfrm>
          <a:prstGeom prst="rect">
            <a:avLst/>
          </a:prstGeom>
        </p:spPr>
        <p:txBody>
          <a:bodyPr wrap="square" lIns="0" tIns="0" rIns="0" bIns="0" rtlCol="0" anchor="t">
            <a:spAutoFit/>
          </a:bodyPr>
          <a:lstStyle/>
          <a:p>
            <a:pPr algn="l">
              <a:lnSpc>
                <a:spcPts val="2592"/>
              </a:lnSpc>
            </a:pPr>
            <a:r>
              <a:rPr lang="en-US" sz="1600" b="1">
                <a:solidFill>
                  <a:srgbClr val="C45D3A"/>
                </a:solidFill>
                <a:latin typeface="Arial" panose="020B0604020202020204" pitchFamily="34" charset="0"/>
                <a:ea typeface="Source Sans 3 Bold"/>
                <a:cs typeface="Arial" panose="020B0604020202020204" pitchFamily="34" charset="0"/>
                <a:sym typeface="Source Sans 3 Bold"/>
              </a:rPr>
              <a:t>FINDINGS</a:t>
            </a:r>
          </a:p>
        </p:txBody>
      </p:sp>
      <p:sp>
        <p:nvSpPr>
          <p:cNvPr id="5" name="TextBox 5"/>
          <p:cNvSpPr txBox="1"/>
          <p:nvPr/>
        </p:nvSpPr>
        <p:spPr>
          <a:xfrm>
            <a:off x="1095375" y="1170603"/>
            <a:ext cx="16097250" cy="807913"/>
          </a:xfrm>
          <a:prstGeom prst="rect">
            <a:avLst/>
          </a:prstGeom>
        </p:spPr>
        <p:txBody>
          <a:bodyPr wrap="square" lIns="0" tIns="0" rIns="0" bIns="0" rtlCol="0" anchor="t">
            <a:spAutoFit/>
          </a:bodyPr>
          <a:lstStyle/>
          <a:p>
            <a:pPr algn="l">
              <a:lnSpc>
                <a:spcPts val="6292"/>
              </a:lnSpc>
            </a:pPr>
            <a:r>
              <a:rPr lang="en-US" sz="5400" dirty="0">
                <a:solidFill>
                  <a:srgbClr val="1E293B"/>
                </a:solidFill>
                <a:latin typeface="Arial" panose="020B0604020202020204" pitchFamily="34" charset="0"/>
                <a:ea typeface="DM Serif Display"/>
                <a:cs typeface="Arial" panose="020B0604020202020204" pitchFamily="34" charset="0"/>
                <a:sym typeface="DM Serif Display"/>
              </a:rPr>
              <a:t>Analysis &amp; Graphs I</a:t>
            </a:r>
          </a:p>
        </p:txBody>
      </p:sp>
      <p:pic>
        <p:nvPicPr>
          <p:cNvPr id="2" name="Picture 1">
            <a:extLst>
              <a:ext uri="{FF2B5EF4-FFF2-40B4-BE49-F238E27FC236}">
                <a16:creationId xmlns:a16="http://schemas.microsoft.com/office/drawing/2014/main" id="{AB94FD57-8F25-30EF-9E7A-9D4AC52689D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2552700"/>
            <a:ext cx="8020645" cy="3307247"/>
          </a:xfrm>
          <a:prstGeom prst="rect">
            <a:avLst/>
          </a:prstGeom>
          <a:noFill/>
          <a:ln>
            <a:noFill/>
          </a:ln>
        </p:spPr>
      </p:pic>
      <p:sp>
        <p:nvSpPr>
          <p:cNvPr id="22" name="Rectangle: Rounded Corners 21">
            <a:extLst>
              <a:ext uri="{FF2B5EF4-FFF2-40B4-BE49-F238E27FC236}">
                <a16:creationId xmlns:a16="http://schemas.microsoft.com/office/drawing/2014/main" id="{AAC6B216-6582-7DE0-F816-5F301A1C2D7B}"/>
              </a:ext>
            </a:extLst>
          </p:cNvPr>
          <p:cNvSpPr/>
          <p:nvPr/>
        </p:nvSpPr>
        <p:spPr>
          <a:xfrm>
            <a:off x="10744200" y="3056780"/>
            <a:ext cx="6705599" cy="230183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The daily sales line shows sharp spikes and sudden drops throughout the observation period, with no clear upward or downward trend. The 7-day moving average smooths out the noise and confirms that while demand exists, it is irregular and unpredictable. This makes it very difficult for the owner to forecast weekly or monthly income reliably.</a:t>
            </a:r>
            <a:endParaRPr lang="en-IN" dirty="0">
              <a:solidFill>
                <a:schemeClr val="tx1"/>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1F4C882D-7278-F660-690F-0BD69663D29B}"/>
              </a:ext>
            </a:extLst>
          </p:cNvPr>
          <p:cNvSpPr txBox="1"/>
          <p:nvPr/>
        </p:nvSpPr>
        <p:spPr>
          <a:xfrm>
            <a:off x="2550454" y="5909116"/>
            <a:ext cx="5110481"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Figure 1: Daily Sales and 7 day moving average</a:t>
            </a:r>
          </a:p>
        </p:txBody>
      </p:sp>
      <p:pic>
        <p:nvPicPr>
          <p:cNvPr id="25" name="Picture 24">
            <a:extLst>
              <a:ext uri="{FF2B5EF4-FFF2-40B4-BE49-F238E27FC236}">
                <a16:creationId xmlns:a16="http://schemas.microsoft.com/office/drawing/2014/main" id="{47DE23EB-5128-DFFF-7D77-9D9C635370AB}"/>
              </a:ext>
            </a:extLst>
          </p:cNvPr>
          <p:cNvPicPr>
            <a:picLocks noChangeAspect="1"/>
          </p:cNvPicPr>
          <p:nvPr/>
        </p:nvPicPr>
        <p:blipFill>
          <a:blip r:embed="rId3"/>
          <a:stretch>
            <a:fillRect/>
          </a:stretch>
        </p:blipFill>
        <p:spPr>
          <a:xfrm>
            <a:off x="2439546" y="6434131"/>
            <a:ext cx="5332299" cy="3308400"/>
          </a:xfrm>
          <a:prstGeom prst="rect">
            <a:avLst/>
          </a:prstGeom>
        </p:spPr>
      </p:pic>
      <p:sp>
        <p:nvSpPr>
          <p:cNvPr id="28" name="Rectangle: Rounded Corners 27">
            <a:extLst>
              <a:ext uri="{FF2B5EF4-FFF2-40B4-BE49-F238E27FC236}">
                <a16:creationId xmlns:a16="http://schemas.microsoft.com/office/drawing/2014/main" id="{2D6DD84B-68C3-41D7-ECD9-8F2CF888BD69}"/>
              </a:ext>
            </a:extLst>
          </p:cNvPr>
          <p:cNvSpPr/>
          <p:nvPr/>
        </p:nvSpPr>
        <p:spPr>
          <a:xfrm>
            <a:off x="10744200" y="6937412"/>
            <a:ext cx="6705599" cy="230183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Saturday records the highest average sales at ₹1,785, while Wednesday and Thursday are the weakest days at ₹1,297 and ₹1,271 respectively. This uneven distribution means customer footfall follows a weekly pattern, which should inform decisions around inventory procurement and staffing levels.</a:t>
            </a:r>
            <a:endParaRPr lang="en-IN"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1A0D0C2A-57E0-26D7-279A-0FB35B7D0AAD}"/>
              </a:ext>
            </a:extLst>
          </p:cNvPr>
          <p:cNvSpPr txBox="1"/>
          <p:nvPr/>
        </p:nvSpPr>
        <p:spPr>
          <a:xfrm>
            <a:off x="2814316" y="9893244"/>
            <a:ext cx="4582755"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Figure 2: Average sales by weekday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95375" y="557955"/>
            <a:ext cx="16097250" cy="296748"/>
          </a:xfrm>
          <a:prstGeom prst="rect">
            <a:avLst/>
          </a:prstGeom>
        </p:spPr>
        <p:txBody>
          <a:bodyPr lIns="0" tIns="0" rIns="0" bIns="0" rtlCol="0" anchor="t">
            <a:spAutoFit/>
          </a:bodyPr>
          <a:lstStyle/>
          <a:p>
            <a:pPr algn="l">
              <a:lnSpc>
                <a:spcPts val="2592"/>
              </a:lnSpc>
            </a:pPr>
            <a:r>
              <a:rPr lang="en-US" sz="1600" b="1">
                <a:solidFill>
                  <a:srgbClr val="C45D3A"/>
                </a:solidFill>
                <a:latin typeface="Arial" panose="020B0604020202020204" pitchFamily="34" charset="0"/>
                <a:ea typeface="Source Sans 3 Bold"/>
                <a:cs typeface="Arial" panose="020B0604020202020204" pitchFamily="34" charset="0"/>
                <a:sym typeface="Source Sans 3 Bold"/>
              </a:rPr>
              <a:t>FINDINGS</a:t>
            </a:r>
          </a:p>
        </p:txBody>
      </p:sp>
      <p:sp>
        <p:nvSpPr>
          <p:cNvPr id="5" name="TextBox 5"/>
          <p:cNvSpPr txBox="1"/>
          <p:nvPr/>
        </p:nvSpPr>
        <p:spPr>
          <a:xfrm>
            <a:off x="1095375" y="1170603"/>
            <a:ext cx="16097250" cy="807913"/>
          </a:xfrm>
          <a:prstGeom prst="rect">
            <a:avLst/>
          </a:prstGeom>
        </p:spPr>
        <p:txBody>
          <a:bodyPr lIns="0" tIns="0" rIns="0" bIns="0" rtlCol="0" anchor="t">
            <a:spAutoFit/>
          </a:bodyPr>
          <a:lstStyle/>
          <a:p>
            <a:pPr algn="l">
              <a:lnSpc>
                <a:spcPts val="6292"/>
              </a:lnSpc>
            </a:pPr>
            <a:r>
              <a:rPr lang="en-US" sz="5400">
                <a:solidFill>
                  <a:srgbClr val="1E293B"/>
                </a:solidFill>
                <a:latin typeface="Arial" panose="020B0604020202020204" pitchFamily="34" charset="0"/>
                <a:ea typeface="DM Serif Display"/>
                <a:cs typeface="Arial" panose="020B0604020202020204" pitchFamily="34" charset="0"/>
                <a:sym typeface="DM Serif Display"/>
              </a:rPr>
              <a:t>Analysis &amp; Graphs II</a:t>
            </a:r>
          </a:p>
        </p:txBody>
      </p:sp>
      <p:pic>
        <p:nvPicPr>
          <p:cNvPr id="2" name="Picture 1">
            <a:extLst>
              <a:ext uri="{FF2B5EF4-FFF2-40B4-BE49-F238E27FC236}">
                <a16:creationId xmlns:a16="http://schemas.microsoft.com/office/drawing/2014/main" id="{8541FA05-9221-CEDD-F2A1-7898629B9A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6629" y="2324100"/>
            <a:ext cx="6765494" cy="4038600"/>
          </a:xfrm>
          <a:prstGeom prst="rect">
            <a:avLst/>
          </a:prstGeom>
          <a:noFill/>
          <a:ln>
            <a:noFill/>
          </a:ln>
        </p:spPr>
      </p:pic>
      <p:pic>
        <p:nvPicPr>
          <p:cNvPr id="3" name="Picture 2">
            <a:extLst>
              <a:ext uri="{FF2B5EF4-FFF2-40B4-BE49-F238E27FC236}">
                <a16:creationId xmlns:a16="http://schemas.microsoft.com/office/drawing/2014/main" id="{A2353407-F15F-FD3C-B93C-1E38DDD147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55771" y="2327413"/>
            <a:ext cx="3903980" cy="4038600"/>
          </a:xfrm>
          <a:prstGeom prst="rect">
            <a:avLst/>
          </a:prstGeom>
          <a:noFill/>
          <a:ln>
            <a:noFill/>
          </a:ln>
        </p:spPr>
      </p:pic>
      <p:pic>
        <p:nvPicPr>
          <p:cNvPr id="20" name="Picture 19">
            <a:extLst>
              <a:ext uri="{FF2B5EF4-FFF2-40B4-BE49-F238E27FC236}">
                <a16:creationId xmlns:a16="http://schemas.microsoft.com/office/drawing/2014/main" id="{803607BA-D5FF-3F2F-BBC8-629BA9F0F07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63400" y="2324100"/>
            <a:ext cx="6019800" cy="4038600"/>
          </a:xfrm>
          <a:prstGeom prst="rect">
            <a:avLst/>
          </a:prstGeom>
          <a:noFill/>
          <a:ln>
            <a:noFill/>
          </a:ln>
        </p:spPr>
      </p:pic>
      <p:sp>
        <p:nvSpPr>
          <p:cNvPr id="24" name="Rectangle: Rounded Corners 23">
            <a:extLst>
              <a:ext uri="{FF2B5EF4-FFF2-40B4-BE49-F238E27FC236}">
                <a16:creationId xmlns:a16="http://schemas.microsoft.com/office/drawing/2014/main" id="{9F0E6D8A-C9D5-10E4-CB89-C346BF53A5FF}"/>
              </a:ext>
            </a:extLst>
          </p:cNvPr>
          <p:cNvSpPr/>
          <p:nvPr/>
        </p:nvSpPr>
        <p:spPr>
          <a:xfrm>
            <a:off x="1035002" y="7124700"/>
            <a:ext cx="5668747" cy="24738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Each point represents one operating day. Blue for profitable days and red for loss days. The red points are not clustered at low sales values. Instead, many sit high on the expense axis at moderate sales levels. This confirms that losses are driven by expense spikes rather than weak demand. The largest spike on 5th April (₹27,267 in expenses) was caused by rent and salary being paid on the same day.</a:t>
            </a:r>
            <a:endParaRPr lang="en-IN" dirty="0">
              <a:solidFill>
                <a:schemeClr val="tx1"/>
              </a:solidFill>
              <a:latin typeface="Arial" panose="020B0604020202020204" pitchFamily="34" charset="0"/>
              <a:cs typeface="Arial" panose="020B0604020202020204" pitchFamily="34" charset="0"/>
            </a:endParaRPr>
          </a:p>
        </p:txBody>
      </p:sp>
      <p:sp>
        <p:nvSpPr>
          <p:cNvPr id="25" name="Rectangle: Rounded Corners 24">
            <a:extLst>
              <a:ext uri="{FF2B5EF4-FFF2-40B4-BE49-F238E27FC236}">
                <a16:creationId xmlns:a16="http://schemas.microsoft.com/office/drawing/2014/main" id="{20F14AA2-7F97-94E1-306A-24F49950E106}"/>
              </a:ext>
            </a:extLst>
          </p:cNvPr>
          <p:cNvSpPr/>
          <p:nvPr/>
        </p:nvSpPr>
        <p:spPr>
          <a:xfrm>
            <a:off x="7861722" y="7237007"/>
            <a:ext cx="3568278" cy="24738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Raw materials make up 49.4% of total expenses, representing the regular day to day cost of operations. Worker salary is the second largest at 36.5%, but unlike raw materials, salary payments were concentrated on only 10 out of 133 operating days.</a:t>
            </a:r>
            <a:endParaRPr lang="en-IN" dirty="0">
              <a:solidFill>
                <a:schemeClr val="tx1"/>
              </a:solidFill>
              <a:latin typeface="Arial" panose="020B0604020202020204" pitchFamily="34" charset="0"/>
              <a:cs typeface="Arial" panose="020B0604020202020204" pitchFamily="34" charset="0"/>
            </a:endParaRPr>
          </a:p>
        </p:txBody>
      </p:sp>
      <p:sp>
        <p:nvSpPr>
          <p:cNvPr id="27" name="Rectangle: Rounded Corners 26">
            <a:extLst>
              <a:ext uri="{FF2B5EF4-FFF2-40B4-BE49-F238E27FC236}">
                <a16:creationId xmlns:a16="http://schemas.microsoft.com/office/drawing/2014/main" id="{9715AA1C-ED92-1DC9-D317-6D1DF99C43BB}"/>
              </a:ext>
            </a:extLst>
          </p:cNvPr>
          <p:cNvSpPr/>
          <p:nvPr/>
        </p:nvSpPr>
        <p:spPr>
          <a:xfrm>
            <a:off x="12138926" y="7289984"/>
            <a:ext cx="5668747" cy="214324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March is the only month with a positive total net profit of ₹32,132. Every other month recorded losses, with April being the worst at −₹15,212. This shows that a few extreme expense days are enough to wipe out an entire month's earnings, and that the instability is not just daily but carries over to the monthly level.</a:t>
            </a:r>
            <a:endParaRPr lang="en-IN" dirty="0">
              <a:solidFill>
                <a:schemeClr val="tx1"/>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69534195-5A5F-73B4-DD13-641D39AC6579}"/>
              </a:ext>
            </a:extLst>
          </p:cNvPr>
          <p:cNvSpPr txBox="1"/>
          <p:nvPr/>
        </p:nvSpPr>
        <p:spPr>
          <a:xfrm>
            <a:off x="486629" y="6559034"/>
            <a:ext cx="6765491" cy="369332"/>
          </a:xfrm>
          <a:prstGeom prst="rect">
            <a:avLst/>
          </a:prstGeom>
          <a:noFill/>
        </p:spPr>
        <p:txBody>
          <a:bodyPr wrap="square" rtlCol="0">
            <a:spAutoFit/>
          </a:bodyPr>
          <a:lstStyle/>
          <a:p>
            <a:pPr algn="ctr"/>
            <a:r>
              <a:rPr lang="en-IN" dirty="0">
                <a:latin typeface="Arial" panose="020B0604020202020204" pitchFamily="34" charset="0"/>
                <a:cs typeface="Arial" panose="020B0604020202020204" pitchFamily="34" charset="0"/>
              </a:rPr>
              <a:t>Figure 3: </a:t>
            </a:r>
            <a:r>
              <a:rPr lang="en-US" dirty="0">
                <a:latin typeface="Arial" panose="020B0604020202020204" pitchFamily="34" charset="0"/>
                <a:cs typeface="Arial" panose="020B0604020202020204" pitchFamily="34" charset="0"/>
              </a:rPr>
              <a:t>Expense vs Sales with Loss Days</a:t>
            </a:r>
            <a:endParaRPr lang="en-IN"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FECEC429-E152-C611-CC88-4A9692B55AAF}"/>
              </a:ext>
            </a:extLst>
          </p:cNvPr>
          <p:cNvSpPr txBox="1"/>
          <p:nvPr/>
        </p:nvSpPr>
        <p:spPr>
          <a:xfrm>
            <a:off x="7655770" y="6574880"/>
            <a:ext cx="3903981" cy="646331"/>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Figure 4: Expense Composition Pie Chart</a:t>
            </a:r>
          </a:p>
        </p:txBody>
      </p:sp>
      <p:sp>
        <p:nvSpPr>
          <p:cNvPr id="30" name="TextBox 29">
            <a:extLst>
              <a:ext uri="{FF2B5EF4-FFF2-40B4-BE49-F238E27FC236}">
                <a16:creationId xmlns:a16="http://schemas.microsoft.com/office/drawing/2014/main" id="{4C18811F-7BFF-4D98-F227-CFB28D96427E}"/>
              </a:ext>
            </a:extLst>
          </p:cNvPr>
          <p:cNvSpPr txBox="1"/>
          <p:nvPr/>
        </p:nvSpPr>
        <p:spPr>
          <a:xfrm>
            <a:off x="11963400" y="6574880"/>
            <a:ext cx="6019800" cy="369332"/>
          </a:xfrm>
          <a:prstGeom prst="rect">
            <a:avLst/>
          </a:prstGeom>
          <a:noFill/>
        </p:spPr>
        <p:txBody>
          <a:bodyPr wrap="square" rtlCol="0">
            <a:spAutoFit/>
          </a:bodyPr>
          <a:lstStyle/>
          <a:p>
            <a:pPr algn="ctr"/>
            <a:r>
              <a:rPr lang="en-IN" dirty="0">
                <a:latin typeface="Arial" panose="020B0604020202020204" pitchFamily="34" charset="0"/>
                <a:cs typeface="Arial" panose="020B0604020202020204" pitchFamily="34" charset="0"/>
              </a:rPr>
              <a:t>Figure 5: Monthly Net Profit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95375" y="557955"/>
            <a:ext cx="16097250" cy="296748"/>
          </a:xfrm>
          <a:prstGeom prst="rect">
            <a:avLst/>
          </a:prstGeom>
        </p:spPr>
        <p:txBody>
          <a:bodyPr lIns="0" tIns="0" rIns="0" bIns="0" rtlCol="0" anchor="t">
            <a:spAutoFit/>
          </a:bodyPr>
          <a:lstStyle/>
          <a:p>
            <a:pPr algn="l">
              <a:lnSpc>
                <a:spcPts val="2592"/>
              </a:lnSpc>
            </a:pPr>
            <a:r>
              <a:rPr lang="en-US" sz="1600" b="1">
                <a:solidFill>
                  <a:srgbClr val="C45D3A"/>
                </a:solidFill>
                <a:latin typeface="Arial" panose="020B0604020202020204" pitchFamily="34" charset="0"/>
                <a:ea typeface="Source Sans 3 Bold"/>
                <a:cs typeface="Arial" panose="020B0604020202020204" pitchFamily="34" charset="0"/>
                <a:sym typeface="Source Sans 3 Bold"/>
              </a:rPr>
              <a:t>ACTIONABLE TAKEAWAYS</a:t>
            </a:r>
          </a:p>
        </p:txBody>
      </p:sp>
      <p:sp>
        <p:nvSpPr>
          <p:cNvPr id="5" name="TextBox 5"/>
          <p:cNvSpPr txBox="1"/>
          <p:nvPr/>
        </p:nvSpPr>
        <p:spPr>
          <a:xfrm>
            <a:off x="1095375" y="1170603"/>
            <a:ext cx="16097250" cy="807913"/>
          </a:xfrm>
          <a:prstGeom prst="rect">
            <a:avLst/>
          </a:prstGeom>
        </p:spPr>
        <p:txBody>
          <a:bodyPr lIns="0" tIns="0" rIns="0" bIns="0" rtlCol="0" anchor="t">
            <a:spAutoFit/>
          </a:bodyPr>
          <a:lstStyle/>
          <a:p>
            <a:pPr algn="l">
              <a:lnSpc>
                <a:spcPts val="6292"/>
              </a:lnSpc>
            </a:pPr>
            <a:r>
              <a:rPr lang="en-US" sz="5400">
                <a:solidFill>
                  <a:srgbClr val="1E293B"/>
                </a:solidFill>
                <a:latin typeface="Arial" panose="020B0604020202020204" pitchFamily="34" charset="0"/>
                <a:ea typeface="DM Serif Display"/>
                <a:cs typeface="Arial" panose="020B0604020202020204" pitchFamily="34" charset="0"/>
                <a:sym typeface="DM Serif Display"/>
              </a:rPr>
              <a:t>Insights &amp; Recommendations</a:t>
            </a:r>
          </a:p>
        </p:txBody>
      </p:sp>
      <p:grpSp>
        <p:nvGrpSpPr>
          <p:cNvPr id="6" name="Group 6"/>
          <p:cNvGrpSpPr/>
          <p:nvPr/>
        </p:nvGrpSpPr>
        <p:grpSpPr>
          <a:xfrm>
            <a:off x="1097232" y="2463926"/>
            <a:ext cx="7772400" cy="3056400"/>
            <a:chOff x="0" y="0"/>
            <a:chExt cx="10363200" cy="3213100"/>
          </a:xfrm>
        </p:grpSpPr>
        <p:sp>
          <p:nvSpPr>
            <p:cNvPr id="7" name="Freeform 7"/>
            <p:cNvSpPr/>
            <p:nvPr/>
          </p:nvSpPr>
          <p:spPr>
            <a:xfrm>
              <a:off x="0" y="0"/>
              <a:ext cx="10363200" cy="3213100"/>
            </a:xfrm>
            <a:custGeom>
              <a:avLst/>
              <a:gdLst/>
              <a:ahLst/>
              <a:cxnLst/>
              <a:rect l="l" t="t" r="r" b="b"/>
              <a:pathLst>
                <a:path w="10363200" h="3213100">
                  <a:moveTo>
                    <a:pt x="0" y="148082"/>
                  </a:moveTo>
                  <a:cubicBezTo>
                    <a:pt x="0" y="66294"/>
                    <a:pt x="66294" y="0"/>
                    <a:pt x="148082" y="0"/>
                  </a:cubicBezTo>
                  <a:lnTo>
                    <a:pt x="10215118" y="0"/>
                  </a:lnTo>
                  <a:cubicBezTo>
                    <a:pt x="10296906" y="0"/>
                    <a:pt x="10363200" y="66294"/>
                    <a:pt x="10363200" y="148082"/>
                  </a:cubicBezTo>
                  <a:lnTo>
                    <a:pt x="10363200" y="3065018"/>
                  </a:lnTo>
                  <a:cubicBezTo>
                    <a:pt x="10363200" y="3146806"/>
                    <a:pt x="10296906" y="3213100"/>
                    <a:pt x="10215118" y="3213100"/>
                  </a:cubicBezTo>
                  <a:lnTo>
                    <a:pt x="148082" y="3213100"/>
                  </a:lnTo>
                  <a:cubicBezTo>
                    <a:pt x="66294" y="3213100"/>
                    <a:pt x="0" y="3146806"/>
                    <a:pt x="0" y="3065018"/>
                  </a:cubicBezTo>
                  <a:close/>
                </a:path>
              </a:pathLst>
            </a:custGeom>
            <a:solidFill>
              <a:srgbClr val="FFFFFF"/>
            </a:solidFill>
          </p:spPr>
        </p:sp>
      </p:grpSp>
      <p:grpSp>
        <p:nvGrpSpPr>
          <p:cNvPr id="8" name="Group 8"/>
          <p:cNvGrpSpPr/>
          <p:nvPr/>
        </p:nvGrpSpPr>
        <p:grpSpPr>
          <a:xfrm>
            <a:off x="1470422" y="2815402"/>
            <a:ext cx="552450" cy="700676"/>
            <a:chOff x="0" y="0"/>
            <a:chExt cx="736600" cy="736600"/>
          </a:xfrm>
        </p:grpSpPr>
        <p:sp>
          <p:nvSpPr>
            <p:cNvPr id="9" name="Freeform 9"/>
            <p:cNvSpPr/>
            <p:nvPr/>
          </p:nvSpPr>
          <p:spPr>
            <a:xfrm>
              <a:off x="0" y="0"/>
              <a:ext cx="736600" cy="736600"/>
            </a:xfrm>
            <a:custGeom>
              <a:avLst/>
              <a:gdLst/>
              <a:ahLst/>
              <a:cxnLst/>
              <a:rect l="l" t="t" r="r" b="b"/>
              <a:pathLst>
                <a:path w="736600" h="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C45D3A"/>
            </a:solidFill>
          </p:spPr>
        </p:sp>
        <p:sp>
          <p:nvSpPr>
            <p:cNvPr id="10" name="TextBox 10"/>
            <p:cNvSpPr txBox="1"/>
            <p:nvPr/>
          </p:nvSpPr>
          <p:spPr>
            <a:xfrm>
              <a:off x="0" y="-66675"/>
              <a:ext cx="736600" cy="803275"/>
            </a:xfrm>
            <a:prstGeom prst="rect">
              <a:avLst/>
            </a:prstGeom>
          </p:spPr>
          <p:txBody>
            <a:bodyPr lIns="50800" tIns="50800" rIns="50800" bIns="50800" rtlCol="0" anchor="ctr"/>
            <a:lstStyle/>
            <a:p>
              <a:pPr algn="ctr">
                <a:lnSpc>
                  <a:spcPts val="3024"/>
                </a:lnSpc>
              </a:pPr>
              <a:r>
                <a:rPr lang="en-US" sz="2000" b="1">
                  <a:solidFill>
                    <a:srgbClr val="FFFFFF"/>
                  </a:solidFill>
                  <a:latin typeface="Arial" panose="020B0604020202020204" pitchFamily="34" charset="0"/>
                  <a:ea typeface="Source Sans 3 Bold"/>
                  <a:cs typeface="Arial" panose="020B0604020202020204" pitchFamily="34" charset="0"/>
                  <a:sym typeface="Source Sans 3 Bold"/>
                </a:rPr>
                <a:t>1</a:t>
              </a:r>
            </a:p>
          </p:txBody>
        </p:sp>
      </p:grpSp>
      <p:sp>
        <p:nvSpPr>
          <p:cNvPr id="11" name="TextBox 11"/>
          <p:cNvSpPr txBox="1"/>
          <p:nvPr/>
        </p:nvSpPr>
        <p:spPr>
          <a:xfrm>
            <a:off x="2294487" y="2731116"/>
            <a:ext cx="6267450" cy="400815"/>
          </a:xfrm>
          <a:prstGeom prst="rect">
            <a:avLst/>
          </a:prstGeom>
        </p:spPr>
        <p:txBody>
          <a:bodyPr lIns="0" tIns="0" rIns="0" bIns="0" rtlCol="0" anchor="t">
            <a:spAutoFit/>
          </a:bodyPr>
          <a:lstStyle/>
          <a:p>
            <a:pPr algn="l">
              <a:lnSpc>
                <a:spcPts val="3456"/>
              </a:lnSpc>
            </a:pPr>
            <a:r>
              <a:rPr lang="en-US" sz="2200" b="1" dirty="0">
                <a:solidFill>
                  <a:srgbClr val="1E293B"/>
                </a:solidFill>
                <a:latin typeface="Arial" panose="020B0604020202020204" pitchFamily="34" charset="0"/>
                <a:ea typeface="Source Sans 3 Bold"/>
                <a:cs typeface="Arial" panose="020B0604020202020204" pitchFamily="34" charset="0"/>
                <a:sym typeface="Source Sans 3 Bold"/>
              </a:rPr>
              <a:t>Align Procurement with High-Demand Days</a:t>
            </a:r>
          </a:p>
        </p:txBody>
      </p:sp>
      <p:sp>
        <p:nvSpPr>
          <p:cNvPr id="12" name="TextBox 12"/>
          <p:cNvSpPr txBox="1"/>
          <p:nvPr/>
        </p:nvSpPr>
        <p:spPr>
          <a:xfrm>
            <a:off x="2294486" y="3445398"/>
            <a:ext cx="6267450" cy="1222194"/>
          </a:xfrm>
          <a:prstGeom prst="rect">
            <a:avLst/>
          </a:prstGeom>
        </p:spPr>
        <p:txBody>
          <a:bodyPr lIns="0" tIns="0" rIns="0" bIns="0" rtlCol="0" anchor="t">
            <a:spAutoFit/>
          </a:bodyPr>
          <a:lstStyle/>
          <a:p>
            <a:pPr algn="l">
              <a:lnSpc>
                <a:spcPts val="3275"/>
              </a:lnSpc>
            </a:pPr>
            <a:r>
              <a:rPr lang="en-US" sz="2000" dirty="0">
                <a:latin typeface="Arial" panose="020B0604020202020204" pitchFamily="34" charset="0"/>
                <a:ea typeface="Source Sans 3"/>
                <a:cs typeface="Arial" panose="020B0604020202020204" pitchFamily="34" charset="0"/>
                <a:sym typeface="Source Sans 3"/>
              </a:rPr>
              <a:t>Friday has the highest average net profit despite not being the top sales day. Bulk purchases should be timed around strong demand windows.</a:t>
            </a:r>
          </a:p>
        </p:txBody>
      </p:sp>
      <p:grpSp>
        <p:nvGrpSpPr>
          <p:cNvPr id="13" name="Group 13"/>
          <p:cNvGrpSpPr/>
          <p:nvPr/>
        </p:nvGrpSpPr>
        <p:grpSpPr>
          <a:xfrm>
            <a:off x="9418368" y="2463926"/>
            <a:ext cx="8031432" cy="3056400"/>
            <a:chOff x="0" y="0"/>
            <a:chExt cx="10363200" cy="3213100"/>
          </a:xfrm>
        </p:grpSpPr>
        <p:sp>
          <p:nvSpPr>
            <p:cNvPr id="14" name="Freeform 14"/>
            <p:cNvSpPr/>
            <p:nvPr/>
          </p:nvSpPr>
          <p:spPr>
            <a:xfrm>
              <a:off x="0" y="0"/>
              <a:ext cx="10363200" cy="3213100"/>
            </a:xfrm>
            <a:custGeom>
              <a:avLst/>
              <a:gdLst/>
              <a:ahLst/>
              <a:cxnLst/>
              <a:rect l="l" t="t" r="r" b="b"/>
              <a:pathLst>
                <a:path w="10363200" h="3213100">
                  <a:moveTo>
                    <a:pt x="0" y="148082"/>
                  </a:moveTo>
                  <a:cubicBezTo>
                    <a:pt x="0" y="66294"/>
                    <a:pt x="66294" y="0"/>
                    <a:pt x="148082" y="0"/>
                  </a:cubicBezTo>
                  <a:lnTo>
                    <a:pt x="10215118" y="0"/>
                  </a:lnTo>
                  <a:cubicBezTo>
                    <a:pt x="10296906" y="0"/>
                    <a:pt x="10363200" y="66294"/>
                    <a:pt x="10363200" y="148082"/>
                  </a:cubicBezTo>
                  <a:lnTo>
                    <a:pt x="10363200" y="3065018"/>
                  </a:lnTo>
                  <a:cubicBezTo>
                    <a:pt x="10363200" y="3146806"/>
                    <a:pt x="10296906" y="3213100"/>
                    <a:pt x="10215118" y="3213100"/>
                  </a:cubicBezTo>
                  <a:lnTo>
                    <a:pt x="148082" y="3213100"/>
                  </a:lnTo>
                  <a:cubicBezTo>
                    <a:pt x="66294" y="3213100"/>
                    <a:pt x="0" y="3146806"/>
                    <a:pt x="0" y="3065018"/>
                  </a:cubicBezTo>
                  <a:close/>
                </a:path>
              </a:pathLst>
            </a:custGeom>
            <a:solidFill>
              <a:srgbClr val="FFFFFF"/>
            </a:solidFill>
          </p:spPr>
        </p:sp>
      </p:grpSp>
      <p:grpSp>
        <p:nvGrpSpPr>
          <p:cNvPr id="15" name="Group 15"/>
          <p:cNvGrpSpPr/>
          <p:nvPr/>
        </p:nvGrpSpPr>
        <p:grpSpPr>
          <a:xfrm>
            <a:off x="9791548" y="2815403"/>
            <a:ext cx="552450" cy="630141"/>
            <a:chOff x="0" y="0"/>
            <a:chExt cx="736600" cy="736600"/>
          </a:xfrm>
        </p:grpSpPr>
        <p:sp>
          <p:nvSpPr>
            <p:cNvPr id="16" name="Freeform 16"/>
            <p:cNvSpPr/>
            <p:nvPr/>
          </p:nvSpPr>
          <p:spPr>
            <a:xfrm>
              <a:off x="0" y="0"/>
              <a:ext cx="736600" cy="736600"/>
            </a:xfrm>
            <a:custGeom>
              <a:avLst/>
              <a:gdLst/>
              <a:ahLst/>
              <a:cxnLst/>
              <a:rect l="l" t="t" r="r" b="b"/>
              <a:pathLst>
                <a:path w="736600" h="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C45D3A"/>
            </a:solidFill>
          </p:spPr>
        </p:sp>
        <p:sp>
          <p:nvSpPr>
            <p:cNvPr id="17" name="TextBox 17"/>
            <p:cNvSpPr txBox="1"/>
            <p:nvPr/>
          </p:nvSpPr>
          <p:spPr>
            <a:xfrm>
              <a:off x="0" y="-66675"/>
              <a:ext cx="736600" cy="803275"/>
            </a:xfrm>
            <a:prstGeom prst="rect">
              <a:avLst/>
            </a:prstGeom>
          </p:spPr>
          <p:txBody>
            <a:bodyPr lIns="50800" tIns="50800" rIns="50800" bIns="50800" rtlCol="0" anchor="ctr"/>
            <a:lstStyle/>
            <a:p>
              <a:pPr algn="ctr">
                <a:lnSpc>
                  <a:spcPts val="3024"/>
                </a:lnSpc>
              </a:pPr>
              <a:r>
                <a:rPr lang="en-US" sz="2000" b="1">
                  <a:solidFill>
                    <a:srgbClr val="FFFFFF"/>
                  </a:solidFill>
                  <a:latin typeface="Arial" panose="020B0604020202020204" pitchFamily="34" charset="0"/>
                  <a:ea typeface="Source Sans 3 Bold"/>
                  <a:cs typeface="Arial" panose="020B0604020202020204" pitchFamily="34" charset="0"/>
                  <a:sym typeface="Source Sans 3 Bold"/>
                </a:rPr>
                <a:t>2</a:t>
              </a:r>
            </a:p>
          </p:txBody>
        </p:sp>
      </p:grpSp>
      <p:sp>
        <p:nvSpPr>
          <p:cNvPr id="18" name="TextBox 18"/>
          <p:cNvSpPr txBox="1"/>
          <p:nvPr/>
        </p:nvSpPr>
        <p:spPr>
          <a:xfrm>
            <a:off x="10615612" y="2731116"/>
            <a:ext cx="6267450" cy="400815"/>
          </a:xfrm>
          <a:prstGeom prst="rect">
            <a:avLst/>
          </a:prstGeom>
        </p:spPr>
        <p:txBody>
          <a:bodyPr lIns="0" tIns="0" rIns="0" bIns="0" rtlCol="0" anchor="t">
            <a:spAutoFit/>
          </a:bodyPr>
          <a:lstStyle/>
          <a:p>
            <a:pPr algn="l">
              <a:lnSpc>
                <a:spcPts val="3456"/>
              </a:lnSpc>
            </a:pPr>
            <a:r>
              <a:rPr lang="en-US" sz="2200" b="1" dirty="0">
                <a:solidFill>
                  <a:srgbClr val="1E293B"/>
                </a:solidFill>
                <a:latin typeface="Arial" panose="020B0604020202020204" pitchFamily="34" charset="0"/>
                <a:ea typeface="Source Sans 3 Bold"/>
                <a:cs typeface="Arial" panose="020B0604020202020204" pitchFamily="34" charset="0"/>
                <a:sym typeface="Source Sans 3 Bold"/>
              </a:rPr>
              <a:t>Re-evaluate Weekend Cost </a:t>
            </a:r>
            <a:r>
              <a:rPr lang="en-US" sz="2200" b="1" dirty="0" err="1">
                <a:solidFill>
                  <a:srgbClr val="1E293B"/>
                </a:solidFill>
                <a:latin typeface="Arial" panose="020B0604020202020204" pitchFamily="34" charset="0"/>
                <a:ea typeface="Source Sans 3 Bold"/>
                <a:cs typeface="Arial" panose="020B0604020202020204" pitchFamily="34" charset="0"/>
                <a:sym typeface="Source Sans 3 Bold"/>
              </a:rPr>
              <a:t>Behaviour</a:t>
            </a:r>
            <a:endParaRPr lang="en-US" sz="2200" b="1" dirty="0">
              <a:solidFill>
                <a:srgbClr val="1E293B"/>
              </a:solidFill>
              <a:latin typeface="Arial" panose="020B0604020202020204" pitchFamily="34" charset="0"/>
              <a:ea typeface="Source Sans 3 Bold"/>
              <a:cs typeface="Arial" panose="020B0604020202020204" pitchFamily="34" charset="0"/>
              <a:sym typeface="Source Sans 3 Bold"/>
            </a:endParaRPr>
          </a:p>
        </p:txBody>
      </p:sp>
      <p:sp>
        <p:nvSpPr>
          <p:cNvPr id="19" name="TextBox 19"/>
          <p:cNvSpPr txBox="1"/>
          <p:nvPr/>
        </p:nvSpPr>
        <p:spPr>
          <a:xfrm>
            <a:off x="10615612" y="3337833"/>
            <a:ext cx="6267450" cy="1645387"/>
          </a:xfrm>
          <a:prstGeom prst="rect">
            <a:avLst/>
          </a:prstGeom>
        </p:spPr>
        <p:txBody>
          <a:bodyPr lIns="0" tIns="0" rIns="0" bIns="0" rtlCol="0" anchor="t">
            <a:spAutoFit/>
          </a:bodyPr>
          <a:lstStyle/>
          <a:p>
            <a:pPr algn="l">
              <a:lnSpc>
                <a:spcPts val="3275"/>
              </a:lnSpc>
            </a:pPr>
            <a:r>
              <a:rPr lang="en-US" sz="2000" dirty="0">
                <a:latin typeface="Arial" panose="020B0604020202020204" pitchFamily="34" charset="0"/>
                <a:ea typeface="Source Sans 3"/>
                <a:cs typeface="Arial" panose="020B0604020202020204" pitchFamily="34" charset="0"/>
                <a:sym typeface="Source Sans 3"/>
              </a:rPr>
              <a:t>Saturday has the highest sales but records negative average net profit. The gap between revenue and profit on that day points to overstaffing, excess inventory or wastage that needs to be reviewed specifically.</a:t>
            </a:r>
          </a:p>
        </p:txBody>
      </p:sp>
      <p:sp>
        <p:nvSpPr>
          <p:cNvPr id="34" name="Freeform 34" descr="preencoded.png"/>
          <p:cNvSpPr/>
          <p:nvPr/>
        </p:nvSpPr>
        <p:spPr>
          <a:xfrm>
            <a:off x="1097232" y="2463926"/>
            <a:ext cx="7772400" cy="3056400"/>
          </a:xfrm>
          <a:custGeom>
            <a:avLst/>
            <a:gdLst/>
            <a:ahLst/>
            <a:cxnLst/>
            <a:rect l="l" t="t" r="r" b="b"/>
            <a:pathLst>
              <a:path w="7772400" h="2409825">
                <a:moveTo>
                  <a:pt x="0" y="0"/>
                </a:moveTo>
                <a:lnTo>
                  <a:pt x="7772400" y="0"/>
                </a:lnTo>
                <a:lnTo>
                  <a:pt x="7772400" y="2409825"/>
                </a:lnTo>
                <a:lnTo>
                  <a:pt x="0" y="2409825"/>
                </a:lnTo>
                <a:lnTo>
                  <a:pt x="0" y="0"/>
                </a:lnTo>
                <a:close/>
              </a:path>
            </a:pathLst>
          </a:custGeom>
          <a:blipFill>
            <a:blip>
              <a:extLst>
                <a:ext uri="{96DAC541-7B7A-43D3-8B79-37D633B846F1}">
                  <asvg:svgBlip xmlns:asvg="http://schemas.microsoft.com/office/drawing/2016/SVG/main" r:embed="rId2"/>
                </a:ext>
              </a:extLst>
            </a:blip>
            <a:stretch>
              <a:fillRect t="-136" b="-135"/>
            </a:stretch>
          </a:blipFill>
        </p:spPr>
      </p:sp>
      <p:sp>
        <p:nvSpPr>
          <p:cNvPr id="35" name="Freeform 35" descr="preencoded.png"/>
          <p:cNvSpPr/>
          <p:nvPr/>
        </p:nvSpPr>
        <p:spPr>
          <a:xfrm>
            <a:off x="9418368" y="2463926"/>
            <a:ext cx="7772400" cy="3056400"/>
          </a:xfrm>
          <a:custGeom>
            <a:avLst/>
            <a:gdLst/>
            <a:ahLst/>
            <a:cxnLst/>
            <a:rect l="l" t="t" r="r" b="b"/>
            <a:pathLst>
              <a:path w="7772400" h="2409825">
                <a:moveTo>
                  <a:pt x="0" y="0"/>
                </a:moveTo>
                <a:lnTo>
                  <a:pt x="7772400" y="0"/>
                </a:lnTo>
                <a:lnTo>
                  <a:pt x="7772400" y="2409825"/>
                </a:lnTo>
                <a:lnTo>
                  <a:pt x="0" y="2409825"/>
                </a:lnTo>
                <a:lnTo>
                  <a:pt x="0" y="0"/>
                </a:lnTo>
                <a:close/>
              </a:path>
            </a:pathLst>
          </a:custGeom>
          <a:blipFill>
            <a:blip>
              <a:extLst>
                <a:ext uri="{96DAC541-7B7A-43D3-8B79-37D633B846F1}">
                  <asvg:svgBlip xmlns:asvg="http://schemas.microsoft.com/office/drawing/2016/SVG/main" r:embed="rId2"/>
                </a:ext>
              </a:extLst>
            </a:blip>
            <a:stretch>
              <a:fillRect t="-136" b="-135"/>
            </a:stretch>
          </a:blipFill>
        </p:spPr>
      </p:sp>
      <p:grpSp>
        <p:nvGrpSpPr>
          <p:cNvPr id="20" name="Group 20"/>
          <p:cNvGrpSpPr/>
          <p:nvPr/>
        </p:nvGrpSpPr>
        <p:grpSpPr>
          <a:xfrm>
            <a:off x="1097232" y="6005736"/>
            <a:ext cx="7772400" cy="3057938"/>
            <a:chOff x="0" y="0"/>
            <a:chExt cx="10363200" cy="3213100"/>
          </a:xfrm>
        </p:grpSpPr>
        <p:sp>
          <p:nvSpPr>
            <p:cNvPr id="21" name="Freeform 21"/>
            <p:cNvSpPr/>
            <p:nvPr/>
          </p:nvSpPr>
          <p:spPr>
            <a:xfrm>
              <a:off x="0" y="0"/>
              <a:ext cx="10363200" cy="3213100"/>
            </a:xfrm>
            <a:custGeom>
              <a:avLst/>
              <a:gdLst/>
              <a:ahLst/>
              <a:cxnLst/>
              <a:rect l="l" t="t" r="r" b="b"/>
              <a:pathLst>
                <a:path w="10363200" h="3213100">
                  <a:moveTo>
                    <a:pt x="0" y="148082"/>
                  </a:moveTo>
                  <a:cubicBezTo>
                    <a:pt x="0" y="66294"/>
                    <a:pt x="66294" y="0"/>
                    <a:pt x="148082" y="0"/>
                  </a:cubicBezTo>
                  <a:lnTo>
                    <a:pt x="10215118" y="0"/>
                  </a:lnTo>
                  <a:cubicBezTo>
                    <a:pt x="10296906" y="0"/>
                    <a:pt x="10363200" y="66294"/>
                    <a:pt x="10363200" y="148082"/>
                  </a:cubicBezTo>
                  <a:lnTo>
                    <a:pt x="10363200" y="3065018"/>
                  </a:lnTo>
                  <a:cubicBezTo>
                    <a:pt x="10363200" y="3146806"/>
                    <a:pt x="10296906" y="3213100"/>
                    <a:pt x="10215118" y="3213100"/>
                  </a:cubicBezTo>
                  <a:lnTo>
                    <a:pt x="148082" y="3213100"/>
                  </a:lnTo>
                  <a:cubicBezTo>
                    <a:pt x="66294" y="3213100"/>
                    <a:pt x="0" y="3146806"/>
                    <a:pt x="0" y="3065018"/>
                  </a:cubicBezTo>
                  <a:close/>
                </a:path>
              </a:pathLst>
            </a:custGeom>
            <a:solidFill>
              <a:srgbClr val="FFFFFF"/>
            </a:solidFill>
          </p:spPr>
        </p:sp>
      </p:grpSp>
      <p:grpSp>
        <p:nvGrpSpPr>
          <p:cNvPr id="22" name="Group 22"/>
          <p:cNvGrpSpPr/>
          <p:nvPr/>
        </p:nvGrpSpPr>
        <p:grpSpPr>
          <a:xfrm>
            <a:off x="1470422" y="6323827"/>
            <a:ext cx="552450" cy="630734"/>
            <a:chOff x="0" y="0"/>
            <a:chExt cx="736600" cy="736600"/>
          </a:xfrm>
        </p:grpSpPr>
        <p:sp>
          <p:nvSpPr>
            <p:cNvPr id="23" name="Freeform 23"/>
            <p:cNvSpPr/>
            <p:nvPr/>
          </p:nvSpPr>
          <p:spPr>
            <a:xfrm>
              <a:off x="0" y="0"/>
              <a:ext cx="736600" cy="736600"/>
            </a:xfrm>
            <a:custGeom>
              <a:avLst/>
              <a:gdLst/>
              <a:ahLst/>
              <a:cxnLst/>
              <a:rect l="l" t="t" r="r" b="b"/>
              <a:pathLst>
                <a:path w="736600" h="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1E293B"/>
            </a:solidFill>
          </p:spPr>
        </p:sp>
        <p:sp>
          <p:nvSpPr>
            <p:cNvPr id="24" name="TextBox 24"/>
            <p:cNvSpPr txBox="1"/>
            <p:nvPr/>
          </p:nvSpPr>
          <p:spPr>
            <a:xfrm>
              <a:off x="0" y="-66675"/>
              <a:ext cx="736600" cy="803275"/>
            </a:xfrm>
            <a:prstGeom prst="rect">
              <a:avLst/>
            </a:prstGeom>
          </p:spPr>
          <p:txBody>
            <a:bodyPr lIns="50800" tIns="50800" rIns="50800" bIns="50800" rtlCol="0" anchor="ctr"/>
            <a:lstStyle/>
            <a:p>
              <a:pPr algn="ctr">
                <a:lnSpc>
                  <a:spcPts val="3024"/>
                </a:lnSpc>
              </a:pPr>
              <a:r>
                <a:rPr lang="en-US" sz="2000" b="1">
                  <a:solidFill>
                    <a:srgbClr val="FFFFFF"/>
                  </a:solidFill>
                  <a:latin typeface="Arial" panose="020B0604020202020204" pitchFamily="34" charset="0"/>
                  <a:ea typeface="Source Sans 3 Bold"/>
                  <a:cs typeface="Arial" panose="020B0604020202020204" pitchFamily="34" charset="0"/>
                  <a:sym typeface="Source Sans 3 Bold"/>
                </a:rPr>
                <a:t>3</a:t>
              </a:r>
            </a:p>
          </p:txBody>
        </p:sp>
      </p:grpSp>
      <p:sp>
        <p:nvSpPr>
          <p:cNvPr id="25" name="TextBox 25"/>
          <p:cNvSpPr txBox="1"/>
          <p:nvPr/>
        </p:nvSpPr>
        <p:spPr>
          <a:xfrm>
            <a:off x="2294487" y="6249932"/>
            <a:ext cx="6267450" cy="400815"/>
          </a:xfrm>
          <a:prstGeom prst="rect">
            <a:avLst/>
          </a:prstGeom>
        </p:spPr>
        <p:txBody>
          <a:bodyPr lIns="0" tIns="0" rIns="0" bIns="0" rtlCol="0" anchor="t">
            <a:spAutoFit/>
          </a:bodyPr>
          <a:lstStyle/>
          <a:p>
            <a:pPr algn="l">
              <a:lnSpc>
                <a:spcPts val="3456"/>
              </a:lnSpc>
            </a:pPr>
            <a:r>
              <a:rPr lang="en-US" sz="2200" b="1" dirty="0">
                <a:solidFill>
                  <a:srgbClr val="1E293B"/>
                </a:solidFill>
                <a:latin typeface="Arial" panose="020B0604020202020204" pitchFamily="34" charset="0"/>
                <a:ea typeface="Source Sans 3 Bold"/>
                <a:cs typeface="Arial" panose="020B0604020202020204" pitchFamily="34" charset="0"/>
                <a:sym typeface="Source Sans 3 Bold"/>
              </a:rPr>
              <a:t>Introduce a Daily Expense Ceiling</a:t>
            </a:r>
          </a:p>
        </p:txBody>
      </p:sp>
      <p:sp>
        <p:nvSpPr>
          <p:cNvPr id="26" name="TextBox 26"/>
          <p:cNvSpPr txBox="1"/>
          <p:nvPr/>
        </p:nvSpPr>
        <p:spPr>
          <a:xfrm>
            <a:off x="2294487" y="6783408"/>
            <a:ext cx="6267450" cy="1645387"/>
          </a:xfrm>
          <a:prstGeom prst="rect">
            <a:avLst/>
          </a:prstGeom>
        </p:spPr>
        <p:txBody>
          <a:bodyPr lIns="0" tIns="0" rIns="0" bIns="0" rtlCol="0" anchor="t">
            <a:spAutoFit/>
          </a:bodyPr>
          <a:lstStyle/>
          <a:p>
            <a:pPr algn="l">
              <a:lnSpc>
                <a:spcPts val="3275"/>
              </a:lnSpc>
            </a:pPr>
            <a:r>
              <a:rPr lang="en-US" sz="2000" dirty="0">
                <a:latin typeface="Arial" panose="020B0604020202020204" pitchFamily="34" charset="0"/>
                <a:ea typeface="Source Sans 3"/>
                <a:cs typeface="Arial" panose="020B0604020202020204" pitchFamily="34" charset="0"/>
                <a:sym typeface="Source Sans 3"/>
              </a:rPr>
              <a:t>If daily sales fall below the historical median, discretionary spending should be cut. If sales exceed break-even early, additional procurement is safer. Adaptive spending instead of fixed patterns.</a:t>
            </a:r>
          </a:p>
        </p:txBody>
      </p:sp>
      <p:sp>
        <p:nvSpPr>
          <p:cNvPr id="36" name="Freeform 36" descr="preencoded.png"/>
          <p:cNvSpPr/>
          <p:nvPr/>
        </p:nvSpPr>
        <p:spPr>
          <a:xfrm>
            <a:off x="1143000" y="6025613"/>
            <a:ext cx="7772400" cy="3057938"/>
          </a:xfrm>
          <a:custGeom>
            <a:avLst/>
            <a:gdLst/>
            <a:ahLst/>
            <a:cxnLst/>
            <a:rect l="l" t="t" r="r" b="b"/>
            <a:pathLst>
              <a:path w="7772400" h="2409825">
                <a:moveTo>
                  <a:pt x="0" y="0"/>
                </a:moveTo>
                <a:lnTo>
                  <a:pt x="7772400" y="0"/>
                </a:lnTo>
                <a:lnTo>
                  <a:pt x="7772400" y="2409825"/>
                </a:lnTo>
                <a:lnTo>
                  <a:pt x="0" y="2409825"/>
                </a:lnTo>
                <a:lnTo>
                  <a:pt x="0" y="0"/>
                </a:lnTo>
                <a:close/>
              </a:path>
            </a:pathLst>
          </a:custGeom>
          <a:blipFill>
            <a:blip>
              <a:extLst>
                <a:ext uri="{96DAC541-7B7A-43D3-8B79-37D633B846F1}">
                  <asvg:svgBlip xmlns:asvg="http://schemas.microsoft.com/office/drawing/2016/SVG/main" r:embed="rId3"/>
                </a:ext>
              </a:extLst>
            </a:blip>
            <a:stretch>
              <a:fillRect t="-136" b="-135"/>
            </a:stretch>
          </a:blipFill>
        </p:spPr>
      </p:sp>
      <p:grpSp>
        <p:nvGrpSpPr>
          <p:cNvPr id="27" name="Group 27"/>
          <p:cNvGrpSpPr/>
          <p:nvPr/>
        </p:nvGrpSpPr>
        <p:grpSpPr>
          <a:xfrm>
            <a:off x="9418368" y="6008931"/>
            <a:ext cx="8031432" cy="3056400"/>
            <a:chOff x="0" y="0"/>
            <a:chExt cx="10363200" cy="3213100"/>
          </a:xfrm>
        </p:grpSpPr>
        <p:sp>
          <p:nvSpPr>
            <p:cNvPr id="28" name="Freeform 28"/>
            <p:cNvSpPr/>
            <p:nvPr/>
          </p:nvSpPr>
          <p:spPr>
            <a:xfrm>
              <a:off x="0" y="0"/>
              <a:ext cx="10363200" cy="3213100"/>
            </a:xfrm>
            <a:custGeom>
              <a:avLst/>
              <a:gdLst/>
              <a:ahLst/>
              <a:cxnLst/>
              <a:rect l="l" t="t" r="r" b="b"/>
              <a:pathLst>
                <a:path w="10363200" h="3213100">
                  <a:moveTo>
                    <a:pt x="0" y="148082"/>
                  </a:moveTo>
                  <a:cubicBezTo>
                    <a:pt x="0" y="66294"/>
                    <a:pt x="66294" y="0"/>
                    <a:pt x="148082" y="0"/>
                  </a:cubicBezTo>
                  <a:lnTo>
                    <a:pt x="10215118" y="0"/>
                  </a:lnTo>
                  <a:cubicBezTo>
                    <a:pt x="10296906" y="0"/>
                    <a:pt x="10363200" y="66294"/>
                    <a:pt x="10363200" y="148082"/>
                  </a:cubicBezTo>
                  <a:lnTo>
                    <a:pt x="10363200" y="3065018"/>
                  </a:lnTo>
                  <a:cubicBezTo>
                    <a:pt x="10363200" y="3146806"/>
                    <a:pt x="10296906" y="3213100"/>
                    <a:pt x="10215118" y="3213100"/>
                  </a:cubicBezTo>
                  <a:lnTo>
                    <a:pt x="148082" y="3213100"/>
                  </a:lnTo>
                  <a:cubicBezTo>
                    <a:pt x="66294" y="3213100"/>
                    <a:pt x="0" y="3146806"/>
                    <a:pt x="0" y="3065018"/>
                  </a:cubicBezTo>
                  <a:close/>
                </a:path>
              </a:pathLst>
            </a:custGeom>
            <a:solidFill>
              <a:srgbClr val="FFFFFF"/>
            </a:solidFill>
          </p:spPr>
          <p:txBody>
            <a:bodyPr/>
            <a:lstStyle/>
            <a:p>
              <a:endParaRPr lang="en-IN" dirty="0">
                <a:latin typeface="Arial" panose="020B0604020202020204" pitchFamily="34" charset="0"/>
                <a:cs typeface="Arial" panose="020B0604020202020204" pitchFamily="34" charset="0"/>
              </a:endParaRPr>
            </a:p>
          </p:txBody>
        </p:sp>
      </p:grpSp>
      <p:grpSp>
        <p:nvGrpSpPr>
          <p:cNvPr id="29" name="Group 29"/>
          <p:cNvGrpSpPr/>
          <p:nvPr/>
        </p:nvGrpSpPr>
        <p:grpSpPr>
          <a:xfrm>
            <a:off x="9791548" y="6327343"/>
            <a:ext cx="570862" cy="700676"/>
            <a:chOff x="0" y="0"/>
            <a:chExt cx="736600" cy="736600"/>
          </a:xfrm>
        </p:grpSpPr>
        <p:sp>
          <p:nvSpPr>
            <p:cNvPr id="30" name="Freeform 30"/>
            <p:cNvSpPr/>
            <p:nvPr/>
          </p:nvSpPr>
          <p:spPr>
            <a:xfrm>
              <a:off x="0" y="0"/>
              <a:ext cx="736600" cy="736600"/>
            </a:xfrm>
            <a:custGeom>
              <a:avLst/>
              <a:gdLst/>
              <a:ahLst/>
              <a:cxnLst/>
              <a:rect l="l" t="t" r="r" b="b"/>
              <a:pathLst>
                <a:path w="736600" h="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1E293B"/>
            </a:solidFill>
          </p:spPr>
        </p:sp>
        <p:sp>
          <p:nvSpPr>
            <p:cNvPr id="31" name="TextBox 31"/>
            <p:cNvSpPr txBox="1"/>
            <p:nvPr/>
          </p:nvSpPr>
          <p:spPr>
            <a:xfrm>
              <a:off x="0" y="-66675"/>
              <a:ext cx="736600" cy="803275"/>
            </a:xfrm>
            <a:prstGeom prst="rect">
              <a:avLst/>
            </a:prstGeom>
          </p:spPr>
          <p:txBody>
            <a:bodyPr lIns="50800" tIns="50800" rIns="50800" bIns="50800" rtlCol="0" anchor="ctr"/>
            <a:lstStyle/>
            <a:p>
              <a:pPr algn="ctr">
                <a:lnSpc>
                  <a:spcPts val="3024"/>
                </a:lnSpc>
              </a:pPr>
              <a:r>
                <a:rPr lang="en-US" sz="2000" b="1">
                  <a:solidFill>
                    <a:srgbClr val="FFFFFF"/>
                  </a:solidFill>
                  <a:latin typeface="Arial" panose="020B0604020202020204" pitchFamily="34" charset="0"/>
                  <a:ea typeface="Source Sans 3 Bold"/>
                  <a:cs typeface="Arial" panose="020B0604020202020204" pitchFamily="34" charset="0"/>
                  <a:sym typeface="Source Sans 3 Bold"/>
                </a:rPr>
                <a:t>4</a:t>
              </a:r>
            </a:p>
          </p:txBody>
        </p:sp>
      </p:grpSp>
      <p:sp>
        <p:nvSpPr>
          <p:cNvPr id="32" name="TextBox 32"/>
          <p:cNvSpPr txBox="1"/>
          <p:nvPr/>
        </p:nvSpPr>
        <p:spPr>
          <a:xfrm>
            <a:off x="10615612" y="6250989"/>
            <a:ext cx="6476326" cy="414159"/>
          </a:xfrm>
          <a:prstGeom prst="rect">
            <a:avLst/>
          </a:prstGeom>
        </p:spPr>
        <p:txBody>
          <a:bodyPr wrap="square" lIns="0" tIns="0" rIns="0" bIns="0" rtlCol="0" anchor="t">
            <a:spAutoFit/>
          </a:bodyPr>
          <a:lstStyle/>
          <a:p>
            <a:pPr algn="l">
              <a:lnSpc>
                <a:spcPts val="3456"/>
              </a:lnSpc>
            </a:pPr>
            <a:r>
              <a:rPr lang="en-US" sz="2200" b="1" dirty="0">
                <a:solidFill>
                  <a:srgbClr val="1E293B"/>
                </a:solidFill>
                <a:latin typeface="Arial" panose="020B0604020202020204" pitchFamily="34" charset="0"/>
                <a:ea typeface="Source Sans 3 Bold"/>
                <a:cs typeface="Arial" panose="020B0604020202020204" pitchFamily="34" charset="0"/>
                <a:sym typeface="Source Sans 3 Bold"/>
              </a:rPr>
              <a:t>Focus on Loss Magnitude, Not Loss Frequency</a:t>
            </a:r>
          </a:p>
        </p:txBody>
      </p:sp>
      <p:sp>
        <p:nvSpPr>
          <p:cNvPr id="33" name="TextBox 33"/>
          <p:cNvSpPr txBox="1"/>
          <p:nvPr/>
        </p:nvSpPr>
        <p:spPr>
          <a:xfrm>
            <a:off x="10615612" y="6800610"/>
            <a:ext cx="6476326" cy="2137447"/>
          </a:xfrm>
          <a:prstGeom prst="rect">
            <a:avLst/>
          </a:prstGeom>
        </p:spPr>
        <p:txBody>
          <a:bodyPr wrap="square" lIns="0" tIns="0" rIns="0" bIns="0" rtlCol="0" anchor="t">
            <a:spAutoFit/>
          </a:bodyPr>
          <a:lstStyle/>
          <a:p>
            <a:pPr algn="l">
              <a:lnSpc>
                <a:spcPts val="3275"/>
              </a:lnSpc>
            </a:pPr>
            <a:r>
              <a:rPr lang="en-US" sz="2000" dirty="0">
                <a:latin typeface="Arial" panose="020B0604020202020204" pitchFamily="34" charset="0"/>
                <a:ea typeface="Source Sans 3"/>
                <a:cs typeface="Arial" panose="020B0604020202020204" pitchFamily="34" charset="0"/>
                <a:sym typeface="Source Sans 3"/>
              </a:rPr>
              <a:t>The café is profitable on 81.2% of days. This tells that while losses happen on about 1 in every 5 days. The problem is that the losses are massive. I recommend to identify top 5 loss days each month and understand what drove expense higher on those days.</a:t>
            </a:r>
          </a:p>
        </p:txBody>
      </p:sp>
      <p:sp>
        <p:nvSpPr>
          <p:cNvPr id="37" name="Freeform 37" descr="preencoded.png"/>
          <p:cNvSpPr/>
          <p:nvPr/>
        </p:nvSpPr>
        <p:spPr>
          <a:xfrm>
            <a:off x="9418368" y="6008931"/>
            <a:ext cx="8031432" cy="3056400"/>
          </a:xfrm>
          <a:custGeom>
            <a:avLst/>
            <a:gdLst/>
            <a:ahLst/>
            <a:cxnLst/>
            <a:rect l="l" t="t" r="r" b="b"/>
            <a:pathLst>
              <a:path w="7772400" h="2409825">
                <a:moveTo>
                  <a:pt x="0" y="0"/>
                </a:moveTo>
                <a:lnTo>
                  <a:pt x="7772400" y="0"/>
                </a:lnTo>
                <a:lnTo>
                  <a:pt x="7772400" y="2409825"/>
                </a:lnTo>
                <a:lnTo>
                  <a:pt x="0" y="2409825"/>
                </a:lnTo>
                <a:lnTo>
                  <a:pt x="0" y="0"/>
                </a:lnTo>
                <a:close/>
              </a:path>
            </a:pathLst>
          </a:custGeom>
          <a:blipFill>
            <a:blip>
              <a:extLst>
                <a:ext uri="{96DAC541-7B7A-43D3-8B79-37D633B846F1}">
                  <asvg:svgBlip xmlns:asvg="http://schemas.microsoft.com/office/drawing/2016/SVG/main" r:embed="rId3"/>
                </a:ext>
              </a:extLst>
            </a:blip>
            <a:stretch>
              <a:fillRect t="-136" b="-135"/>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462088" y="557955"/>
            <a:ext cx="15363825" cy="296748"/>
          </a:xfrm>
          <a:prstGeom prst="rect">
            <a:avLst/>
          </a:prstGeom>
        </p:spPr>
        <p:txBody>
          <a:bodyPr lIns="0" tIns="0" rIns="0" bIns="0" rtlCol="0" anchor="t">
            <a:spAutoFit/>
          </a:bodyPr>
          <a:lstStyle/>
          <a:p>
            <a:pPr algn="l">
              <a:lnSpc>
                <a:spcPts val="2592"/>
              </a:lnSpc>
            </a:pPr>
            <a:r>
              <a:rPr lang="en-US" sz="1600" b="1" dirty="0">
                <a:solidFill>
                  <a:srgbClr val="C45D3A"/>
                </a:solidFill>
                <a:latin typeface="Arial" panose="020B0604020202020204" pitchFamily="34" charset="0"/>
                <a:ea typeface="Source Sans 3 Bold"/>
                <a:cs typeface="Arial" panose="020B0604020202020204" pitchFamily="34" charset="0"/>
                <a:sym typeface="Source Sans 3 Bold"/>
              </a:rPr>
              <a:t>Future Work</a:t>
            </a:r>
          </a:p>
        </p:txBody>
      </p:sp>
      <p:sp>
        <p:nvSpPr>
          <p:cNvPr id="6" name="TextBox 6"/>
          <p:cNvSpPr txBox="1"/>
          <p:nvPr/>
        </p:nvSpPr>
        <p:spPr>
          <a:xfrm>
            <a:off x="1462088" y="1170603"/>
            <a:ext cx="15363825" cy="809004"/>
          </a:xfrm>
          <a:prstGeom prst="rect">
            <a:avLst/>
          </a:prstGeom>
        </p:spPr>
        <p:txBody>
          <a:bodyPr lIns="0" tIns="0" rIns="0" bIns="0" rtlCol="0" anchor="t">
            <a:spAutoFit/>
          </a:bodyPr>
          <a:lstStyle/>
          <a:p>
            <a:pPr algn="l">
              <a:lnSpc>
                <a:spcPts val="6292"/>
              </a:lnSpc>
            </a:pPr>
            <a:r>
              <a:rPr lang="en-US" sz="5400">
                <a:latin typeface="Arial" panose="020B0604020202020204" pitchFamily="34" charset="0"/>
                <a:ea typeface="DM Serif Display"/>
                <a:cs typeface="Arial" panose="020B0604020202020204" pitchFamily="34" charset="0"/>
                <a:sym typeface="DM Serif Display"/>
              </a:rPr>
              <a:t>Limitations &amp; Conclusion</a:t>
            </a:r>
          </a:p>
        </p:txBody>
      </p:sp>
      <p:sp>
        <p:nvSpPr>
          <p:cNvPr id="7" name="TextBox 7"/>
          <p:cNvSpPr txBox="1"/>
          <p:nvPr/>
        </p:nvSpPr>
        <p:spPr>
          <a:xfrm>
            <a:off x="1463945" y="2389661"/>
            <a:ext cx="6581775" cy="400815"/>
          </a:xfrm>
          <a:prstGeom prst="rect">
            <a:avLst/>
          </a:prstGeom>
        </p:spPr>
        <p:txBody>
          <a:bodyPr lIns="0" tIns="0" rIns="0" bIns="0" rtlCol="0" anchor="t">
            <a:spAutoFit/>
          </a:bodyPr>
          <a:lstStyle/>
          <a:p>
            <a:pPr algn="l">
              <a:lnSpc>
                <a:spcPts val="3456"/>
              </a:lnSpc>
            </a:pPr>
            <a:r>
              <a:rPr lang="en-US" sz="2200" b="1">
                <a:latin typeface="Arial" panose="020B0604020202020204" pitchFamily="34" charset="0"/>
                <a:ea typeface="Source Sans 3 Bold"/>
                <a:cs typeface="Arial" panose="020B0604020202020204" pitchFamily="34" charset="0"/>
                <a:sym typeface="Source Sans 3 Bold"/>
              </a:rPr>
              <a:t>Limitations</a:t>
            </a:r>
          </a:p>
        </p:txBody>
      </p:sp>
      <p:sp>
        <p:nvSpPr>
          <p:cNvPr id="20" name="TextBox 20"/>
          <p:cNvSpPr txBox="1"/>
          <p:nvPr/>
        </p:nvSpPr>
        <p:spPr>
          <a:xfrm>
            <a:off x="9677400" y="2395104"/>
            <a:ext cx="7200900" cy="400815"/>
          </a:xfrm>
          <a:prstGeom prst="rect">
            <a:avLst/>
          </a:prstGeom>
        </p:spPr>
        <p:txBody>
          <a:bodyPr lIns="0" tIns="0" rIns="0" bIns="0" rtlCol="0" anchor="t">
            <a:spAutoFit/>
          </a:bodyPr>
          <a:lstStyle/>
          <a:p>
            <a:pPr algn="l">
              <a:lnSpc>
                <a:spcPts val="3456"/>
              </a:lnSpc>
            </a:pPr>
            <a:r>
              <a:rPr lang="en-US" sz="2200" b="1" dirty="0">
                <a:latin typeface="Arial" panose="020B0604020202020204" pitchFamily="34" charset="0"/>
                <a:ea typeface="Source Sans 3 Bold"/>
                <a:cs typeface="Arial" panose="020B0604020202020204" pitchFamily="34" charset="0"/>
                <a:sym typeface="Source Sans 3 Bold"/>
              </a:rPr>
              <a:t>Conclusion</a:t>
            </a:r>
          </a:p>
        </p:txBody>
      </p:sp>
      <p:sp>
        <p:nvSpPr>
          <p:cNvPr id="22" name="TextBox 22"/>
          <p:cNvSpPr txBox="1"/>
          <p:nvPr/>
        </p:nvSpPr>
        <p:spPr>
          <a:xfrm>
            <a:off x="1464620" y="9248699"/>
            <a:ext cx="4783779" cy="321883"/>
          </a:xfrm>
          <a:prstGeom prst="rect">
            <a:avLst/>
          </a:prstGeom>
        </p:spPr>
        <p:txBody>
          <a:bodyPr wrap="square" lIns="0" tIns="0" rIns="0" bIns="0" rtlCol="0" anchor="t">
            <a:spAutoFit/>
          </a:bodyPr>
          <a:lstStyle/>
          <a:p>
            <a:pPr algn="l">
              <a:lnSpc>
                <a:spcPts val="2808"/>
              </a:lnSpc>
            </a:pPr>
            <a:r>
              <a:rPr lang="en-US" sz="1800" dirty="0">
                <a:latin typeface="Arial" panose="020B0604020202020204" pitchFamily="34" charset="0"/>
                <a:ea typeface="Source Sans 3"/>
                <a:cs typeface="Arial" panose="020B0604020202020204" pitchFamily="34" charset="0"/>
                <a:sym typeface="Source Sans 3"/>
              </a:rPr>
              <a:t>Business Data Management — Project Viva</a:t>
            </a:r>
          </a:p>
        </p:txBody>
      </p:sp>
      <p:sp>
        <p:nvSpPr>
          <p:cNvPr id="23" name="TextBox 23"/>
          <p:cNvSpPr txBox="1"/>
          <p:nvPr/>
        </p:nvSpPr>
        <p:spPr>
          <a:xfrm>
            <a:off x="15794012" y="9248699"/>
            <a:ext cx="1084288" cy="321883"/>
          </a:xfrm>
          <a:prstGeom prst="rect">
            <a:avLst/>
          </a:prstGeom>
        </p:spPr>
        <p:txBody>
          <a:bodyPr wrap="square" lIns="0" tIns="0" rIns="0" bIns="0" rtlCol="0" anchor="t">
            <a:spAutoFit/>
          </a:bodyPr>
          <a:lstStyle/>
          <a:p>
            <a:pPr algn="l">
              <a:lnSpc>
                <a:spcPts val="2808"/>
              </a:lnSpc>
            </a:pPr>
            <a:r>
              <a:rPr lang="en-US" sz="1800" dirty="0">
                <a:latin typeface="Arial" panose="020B0604020202020204" pitchFamily="34" charset="0"/>
                <a:ea typeface="Source Sans 3"/>
                <a:cs typeface="Arial" panose="020B0604020202020204" pitchFamily="34" charset="0"/>
                <a:sym typeface="Source Sans 3"/>
              </a:rPr>
              <a:t>Thank You</a:t>
            </a:r>
          </a:p>
        </p:txBody>
      </p:sp>
      <p:cxnSp>
        <p:nvCxnSpPr>
          <p:cNvPr id="27" name="Straight Connector 26">
            <a:extLst>
              <a:ext uri="{FF2B5EF4-FFF2-40B4-BE49-F238E27FC236}">
                <a16:creationId xmlns:a16="http://schemas.microsoft.com/office/drawing/2014/main" id="{E0516102-F357-B965-4834-F21EE2D45B6E}"/>
              </a:ext>
            </a:extLst>
          </p:cNvPr>
          <p:cNvCxnSpPr>
            <a:cxnSpLocks/>
          </p:cNvCxnSpPr>
          <p:nvPr/>
        </p:nvCxnSpPr>
        <p:spPr>
          <a:xfrm>
            <a:off x="1469755" y="9105900"/>
            <a:ext cx="15522845" cy="0"/>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32EFA1EA-182D-937E-1EA1-4A3E7AF4BCCE}"/>
              </a:ext>
            </a:extLst>
          </p:cNvPr>
          <p:cNvSpPr txBox="1"/>
          <p:nvPr/>
        </p:nvSpPr>
        <p:spPr>
          <a:xfrm>
            <a:off x="1469756" y="3012819"/>
            <a:ext cx="7315200" cy="440120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Item-level sales data was not available consistently, making it impossible to identify which products drive revenue or margin</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Expense category breakdown was missing for over 50% of operating days, so aggregate expense had to be used as the primary variable</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External factors like weather, holidays and local events affected footfall but could not be captured or isolated in the data</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The observation period covers the café's early stage, where one-time setup costs like equipment and initial stock inflate certain expense days</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Manual hand-recording by the owner introduces the possibility of human error and inconsistency across entries</a:t>
            </a:r>
            <a:endParaRPr lang="en-IN" sz="2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53D8B0FD-E7CC-E6A5-B047-C70D16D5AC62}"/>
              </a:ext>
            </a:extLst>
          </p:cNvPr>
          <p:cNvSpPr txBox="1"/>
          <p:nvPr/>
        </p:nvSpPr>
        <p:spPr>
          <a:xfrm>
            <a:off x="9677400" y="3012819"/>
            <a:ext cx="7315200" cy="440120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The café is profitable on 81.2% of operating days,  the problem is not demand, it is how costs are timed and managed</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A handful of extreme expense days, primarily driven by lump-sum salary and rent payments, are responsible for wiping out monthly earnings</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March was the only month with a positive total net profit. Every other month recorded a loss despite reasonable daily sales</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The gap between a sales CV of 0.64 and a profit CV of 91.38 confirms that instability lives entirely on the cost side</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With better expense timing, demand-aligned procurement and basic monthly tracking, consistent profitability is achievable for this business</a:t>
            </a:r>
            <a:endParaRPr lang="en-IN" sz="20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772</TotalTime>
  <Words>1420</Words>
  <Application>Microsoft Office PowerPoint</Application>
  <PresentationFormat>Custom</PresentationFormat>
  <Paragraphs>110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Data Management</dc:title>
  <cp:lastModifiedBy>Vedaant Arora</cp:lastModifiedBy>
  <cp:revision>5</cp:revision>
  <dcterms:created xsi:type="dcterms:W3CDTF">2006-08-16T00:00:00Z</dcterms:created>
  <dcterms:modified xsi:type="dcterms:W3CDTF">2026-05-11T08:11:39Z</dcterms:modified>
  <dc:identifier>DAHJSu4N7t8</dc:identifier>
</cp:coreProperties>
</file>